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4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5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7.xml" ContentType="application/vnd.openxmlformats-officedocument.presentationml.slide+xml"/>
  <Override PartName="/ppt/slides/slide15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4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/>
  <p:notesSz cx="51435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5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568E713-C645-444D-8D95-B9858256DAB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6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81558C9-802B-476C-A79F-0E62359FDD5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6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5668937-121B-4D94-AF60-9585BB9E220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6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6DCDF03-1670-433D-AC33-47B041BCEF0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6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F62FC57-C8DD-46CD-9D3A-2FE23A61AF5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7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C3D628A-49D9-45A0-B49D-26AFDEBF5B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7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1463097-349C-4C27-B787-02B8618D081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7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7C1AEB4-D102-4E4E-B964-B38BEB3D564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8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AA7C2CE-85A5-49A4-9FA1-B5FB824AE96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8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3D452D8-814E-44C0-8924-55F56DF1591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8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742D167-5B85-463E-86A4-C8EDF1472AE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9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5F50E1E-3A79-416A-A450-CDB2B96D234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9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0392C84-84A3-4AFB-AF17-AF88876D5FA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9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56D5727-A3CF-4854-8A8E-09426351FF7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59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D49B910-F5A7-4EAF-9BC4-FD7CA6C2A3C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0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3579A9D-D18C-44F9-BF77-F59FD0CCD78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0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4DE614B-3896-4858-B916-2DE32A0DEB5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0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E0F05F3-7263-4715-A4DB-7BD453571DF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1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3384187F-A219-42CB-A00E-6A77E243161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61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46FDDD0-EF09-486F-9145-78442B49B64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14360" y="185760"/>
            <a:ext cx="7464240" cy="3609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280" y="12031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1720" y="12031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6840" y="276156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280" y="276156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1720" y="276156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414360" y="185760"/>
            <a:ext cx="7464240" cy="3609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3239280" y="12031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021720" y="12031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56840" y="276156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body"/>
          </p:nvPr>
        </p:nvSpPr>
        <p:spPr>
          <a:xfrm>
            <a:off x="3239280" y="276156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73" name="PlaceHolder 7"/>
          <p:cNvSpPr>
            <a:spLocks noGrp="1"/>
          </p:cNvSpPr>
          <p:nvPr>
            <p:ph type="body"/>
          </p:nvPr>
        </p:nvSpPr>
        <p:spPr>
          <a:xfrm>
            <a:off x="6021720" y="276156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ubTitle"/>
          </p:nvPr>
        </p:nvSpPr>
        <p:spPr>
          <a:xfrm>
            <a:off x="414360" y="185760"/>
            <a:ext cx="7464240" cy="3609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3239280" y="12031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21720" y="12031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456840" y="276156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10" name="PlaceHolder 6"/>
          <p:cNvSpPr>
            <a:spLocks noGrp="1"/>
          </p:cNvSpPr>
          <p:nvPr>
            <p:ph type="body"/>
          </p:nvPr>
        </p:nvSpPr>
        <p:spPr>
          <a:xfrm>
            <a:off x="3239280" y="276156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11" name="PlaceHolder 7"/>
          <p:cNvSpPr>
            <a:spLocks noGrp="1"/>
          </p:cNvSpPr>
          <p:nvPr>
            <p:ph type="body"/>
          </p:nvPr>
        </p:nvSpPr>
        <p:spPr>
          <a:xfrm>
            <a:off x="6021720" y="276156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ubTitle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ubTitle"/>
          </p:nvPr>
        </p:nvSpPr>
        <p:spPr>
          <a:xfrm>
            <a:off x="414360" y="185760"/>
            <a:ext cx="7464240" cy="3609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56840" y="2761560"/>
            <a:ext cx="822888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4673520" y="120312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45684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 type="body"/>
          </p:nvPr>
        </p:nvSpPr>
        <p:spPr>
          <a:xfrm>
            <a:off x="4673520" y="2761560"/>
            <a:ext cx="40154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409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3239280" y="12031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6021720" y="12031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body"/>
          </p:nvPr>
        </p:nvSpPr>
        <p:spPr>
          <a:xfrm>
            <a:off x="456840" y="276156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46" name="PlaceHolder 6"/>
          <p:cNvSpPr>
            <a:spLocks noGrp="1"/>
          </p:cNvSpPr>
          <p:nvPr>
            <p:ph type="body"/>
          </p:nvPr>
        </p:nvSpPr>
        <p:spPr>
          <a:xfrm>
            <a:off x="3239280" y="276156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  <p:sp>
        <p:nvSpPr>
          <p:cNvPr id="147" name="PlaceHolder 7"/>
          <p:cNvSpPr>
            <a:spLocks noGrp="1"/>
          </p:cNvSpPr>
          <p:nvPr>
            <p:ph type="body"/>
          </p:nvPr>
        </p:nvSpPr>
        <p:spPr>
          <a:xfrm>
            <a:off x="6021720" y="276156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9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14360" y="185760"/>
            <a:ext cx="7464240" cy="778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</a:t>
            </a:r>
            <a:r>
              <a:rPr b="0" lang="en-US" sz="1800" spc="-1" strike="noStrike">
                <a:latin typeface="Arial"/>
              </a:rPr>
              <a:t>edit the </a:t>
            </a:r>
            <a:r>
              <a:rPr b="0" lang="en-US" sz="1800" spc="-1" strike="noStrike">
                <a:latin typeface="Arial"/>
              </a:rPr>
              <a:t>title text </a:t>
            </a:r>
            <a:r>
              <a:rPr b="0" lang="en-US" sz="1800" spc="-1" strike="noStrike">
                <a:latin typeface="Arial"/>
              </a:rPr>
              <a:t>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888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28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900" spc="-1" strike="noStrike">
                <a:latin typeface="Arial"/>
              </a:rPr>
              <a:t>Click to edit the outline text format</a:t>
            </a:r>
            <a:endParaRPr b="0" lang="en-US" sz="2900" spc="-1" strike="noStrike">
              <a:latin typeface="Arial"/>
            </a:endParaRPr>
          </a:p>
          <a:p>
            <a:pPr lvl="1" marL="864000" indent="-324000">
              <a:spcBef>
                <a:spcPts val="102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540" spc="-1" strike="noStrike">
                <a:latin typeface="Arial"/>
              </a:rPr>
              <a:t>Second Outline Level</a:t>
            </a:r>
            <a:endParaRPr b="0" lang="en-US" sz="2540" spc="-1" strike="noStrike">
              <a:latin typeface="Arial"/>
            </a:endParaRPr>
          </a:p>
          <a:p>
            <a:pPr lvl="2" marL="1296000" indent="-288000">
              <a:spcBef>
                <a:spcPts val="7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80" spc="-1" strike="noStrike">
                <a:latin typeface="Arial"/>
              </a:rPr>
              <a:t>Third Outline Level</a:t>
            </a:r>
            <a:endParaRPr b="0" lang="en-US" sz="2180" spc="-1" strike="noStrike">
              <a:latin typeface="Arial"/>
            </a:endParaRPr>
          </a:p>
          <a:p>
            <a:pPr lvl="3" marL="1728000" indent="-216000">
              <a:spcBef>
                <a:spcPts val="51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10" spc="-1" strike="noStrike">
                <a:latin typeface="Arial"/>
              </a:rPr>
              <a:t>Fourth Outline Level</a:t>
            </a:r>
            <a:endParaRPr b="0" lang="en-US" sz="1810" spc="-1" strike="noStrike">
              <a:latin typeface="Arial"/>
            </a:endParaRPr>
          </a:p>
          <a:p>
            <a:pPr lvl="4" marL="2160000" indent="-216000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10" spc="-1" strike="noStrike">
                <a:latin typeface="Arial"/>
              </a:rPr>
              <a:t>Fifth Outline Level</a:t>
            </a:r>
            <a:endParaRPr b="0" lang="en-US" sz="1810" spc="-1" strike="noStrike">
              <a:latin typeface="Arial"/>
            </a:endParaRPr>
          </a:p>
          <a:p>
            <a:pPr lvl="5" marL="2592000" indent="-216000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10" spc="-1" strike="noStrike">
                <a:latin typeface="Arial"/>
              </a:rPr>
              <a:t>Sixth Outline Level</a:t>
            </a:r>
            <a:endParaRPr b="0" lang="en-US" sz="1810" spc="-1" strike="noStrike">
              <a:latin typeface="Arial"/>
            </a:endParaRPr>
          </a:p>
          <a:p>
            <a:pPr lvl="6" marL="3024000" indent="-216000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10" spc="-1" strike="noStrike">
                <a:latin typeface="Arial"/>
              </a:rPr>
              <a:t>Seventh Outline Level</a:t>
            </a:r>
            <a:endParaRPr b="0" lang="en-US" sz="181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414720" y="1492920"/>
            <a:ext cx="4146480" cy="82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REST </a:t>
            </a:r>
            <a:r>
              <a:rPr b="1" lang="en-US" sz="4800" spc="-1" strike="noStrike">
                <a:solidFill>
                  <a:srgbClr val="000000"/>
                </a:solidFill>
                <a:latin typeface="Arial"/>
                <a:ea typeface="Arial"/>
              </a:rPr>
              <a:t>API</a:t>
            </a:r>
            <a:endParaRPr b="0" lang="en-US" sz="4800" spc="-1" strike="noStrike">
              <a:latin typeface="Arial"/>
            </a:endParaRPr>
          </a:p>
        </p:txBody>
      </p:sp>
      <p:pic>
        <p:nvPicPr>
          <p:cNvPr id="149" name="Image 1_1" descr="preencoded.png"/>
          <p:cNvPicPr/>
          <p:nvPr/>
        </p:nvPicPr>
        <p:blipFill>
          <a:blip r:embed="rId1"/>
          <a:stretch/>
        </p:blipFill>
        <p:spPr>
          <a:xfrm>
            <a:off x="580320" y="2902680"/>
            <a:ext cx="662760" cy="662400"/>
          </a:xfrm>
          <a:prstGeom prst="rect">
            <a:avLst/>
          </a:prstGeom>
          <a:ln>
            <a:noFill/>
          </a:ln>
        </p:spPr>
      </p:pic>
      <p:pic>
        <p:nvPicPr>
          <p:cNvPr id="150" name="Image 2_1" descr="preencoded.png"/>
          <p:cNvPicPr/>
          <p:nvPr/>
        </p:nvPicPr>
        <p:blipFill>
          <a:blip r:embed="rId2"/>
          <a:stretch/>
        </p:blipFill>
        <p:spPr>
          <a:xfrm>
            <a:off x="5391000" y="663480"/>
            <a:ext cx="2487960" cy="2072880"/>
          </a:xfrm>
          <a:prstGeom prst="rect">
            <a:avLst/>
          </a:prstGeom>
          <a:ln>
            <a:noFill/>
          </a:ln>
        </p:spPr>
      </p:pic>
      <p:sp>
        <p:nvSpPr>
          <p:cNvPr id="151" name="CustomShape 2"/>
          <p:cNvSpPr/>
          <p:nvPr/>
        </p:nvSpPr>
        <p:spPr>
          <a:xfrm>
            <a:off x="1410120" y="3068640"/>
            <a:ext cx="3317040" cy="49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Наставник: Казьмин Роман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Дата: 21.05.2026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152" name="Google Shape;57;p8_1" descr=""/>
          <p:cNvPicPr/>
          <p:nvPr/>
        </p:nvPicPr>
        <p:blipFill>
          <a:blip r:embed="rId3"/>
          <a:stretch/>
        </p:blipFill>
        <p:spPr>
          <a:xfrm>
            <a:off x="361080" y="240840"/>
            <a:ext cx="1107720" cy="231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CustomShape 2"/>
          <p:cNvSpPr/>
          <p:nvPr/>
        </p:nvSpPr>
        <p:spPr>
          <a:xfrm>
            <a:off x="457200" y="228600"/>
            <a:ext cx="8229240" cy="685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rgbClr val="1a1a2e"/>
                </a:solidFill>
                <a:latin typeface="Arial"/>
                <a:ea typeface="Arial"/>
              </a:rPr>
              <a:t>Кому будет полезно?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457200" y="960120"/>
            <a:ext cx="8229240" cy="22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CustomShape 4"/>
          <p:cNvSpPr/>
          <p:nvPr/>
        </p:nvSpPr>
        <p:spPr>
          <a:xfrm>
            <a:off x="457200" y="1028880"/>
            <a:ext cx="3885840" cy="379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1565c0"/>
                </a:solidFill>
                <a:latin typeface="Arial"/>
                <a:ea typeface="Arial"/>
              </a:rPr>
              <a:t>Junior-разработчикам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7" name="CustomShape 5"/>
          <p:cNvSpPr/>
          <p:nvPr/>
        </p:nvSpPr>
        <p:spPr>
          <a:xfrm>
            <a:off x="457200" y="1408680"/>
            <a:ext cx="3885840" cy="749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37474f"/>
                </a:solidFill>
                <a:latin typeface="Arial"/>
                <a:ea typeface="Arial"/>
              </a:rPr>
              <a:t>Понять, что такое REST и почему он везде. Научиться проектировать правильные URL, использовать HTTP-методы по назначению и читать чужой API без боли.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8" name="CustomShape 6"/>
          <p:cNvSpPr/>
          <p:nvPr/>
        </p:nvSpPr>
        <p:spPr>
          <a:xfrm>
            <a:off x="457200" y="2316600"/>
            <a:ext cx="3885840" cy="379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1565c0"/>
                </a:solidFill>
                <a:latin typeface="Arial"/>
                <a:ea typeface="Arial"/>
              </a:rPr>
              <a:t>Frontend-разработчикам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59" name="CustomShape 7"/>
          <p:cNvSpPr/>
          <p:nvPr/>
        </p:nvSpPr>
        <p:spPr>
          <a:xfrm>
            <a:off x="457200" y="2660760"/>
            <a:ext cx="3885840" cy="749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37474f"/>
                </a:solidFill>
                <a:latin typeface="Arial"/>
                <a:ea typeface="Arial"/>
              </a:rPr>
              <a:t>Разобраться, почему CORS блокирует запросы, как работает авторизация через токены и почему fetch() вернул 403 вместо данных.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0" name="CustomShape 8"/>
          <p:cNvSpPr/>
          <p:nvPr/>
        </p:nvSpPr>
        <p:spPr>
          <a:xfrm>
            <a:off x="4800600" y="1028880"/>
            <a:ext cx="3885840" cy="379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1565c0"/>
                </a:solidFill>
                <a:latin typeface="Arial"/>
                <a:ea typeface="Arial"/>
              </a:rPr>
              <a:t>Студентам и стажёрам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1" name="CustomShape 9"/>
          <p:cNvSpPr/>
          <p:nvPr/>
        </p:nvSpPr>
        <p:spPr>
          <a:xfrm>
            <a:off x="4800600" y="1408680"/>
            <a:ext cx="3885840" cy="749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37474f"/>
                </a:solidFill>
                <a:latin typeface="Arial"/>
                <a:ea typeface="Arial"/>
              </a:rPr>
              <a:t>Получить структурированную базу по REST API перед первым проектом или техническим интервью — чтобы отвечать уверенно, а не наугад.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2" name="CustomShape 10"/>
          <p:cNvSpPr/>
          <p:nvPr/>
        </p:nvSpPr>
        <p:spPr>
          <a:xfrm>
            <a:off x="4800600" y="2316600"/>
            <a:ext cx="3885840" cy="379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1600" spc="-1" strike="noStrike">
                <a:solidFill>
                  <a:srgbClr val="1565c0"/>
                </a:solidFill>
                <a:latin typeface="Arial"/>
                <a:ea typeface="Arial"/>
              </a:rPr>
              <a:t>QA-инженерам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3" name="CustomShape 11"/>
          <p:cNvSpPr/>
          <p:nvPr/>
        </p:nvSpPr>
        <p:spPr>
          <a:xfrm>
            <a:off x="4800600" y="2660760"/>
            <a:ext cx="3885840" cy="749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200" spc="-1" strike="noStrike">
                <a:solidFill>
                  <a:srgbClr val="37474f"/>
                </a:solidFill>
                <a:latin typeface="Arial"/>
                <a:ea typeface="Arial"/>
              </a:rPr>
              <a:t>Понять структуру API-запросов, научиться читать статус-коды и тестировать эндпоинты через Postman осознанно, а не методом тыка.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64" name="Google Shape;299;p34_1" descr=""/>
          <p:cNvPicPr/>
          <p:nvPr/>
        </p:nvPicPr>
        <p:blipFill>
          <a:blip r:embed="rId1"/>
          <a:stretch/>
        </p:blipFill>
        <p:spPr>
          <a:xfrm>
            <a:off x="8440560" y="4181040"/>
            <a:ext cx="351000" cy="527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360000" y="0"/>
            <a:ext cx="850356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План вебинара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6" name="CustomShape 2"/>
          <p:cNvSpPr/>
          <p:nvPr/>
        </p:nvSpPr>
        <p:spPr>
          <a:xfrm>
            <a:off x="365760" y="868680"/>
            <a:ext cx="4205880" cy="804240"/>
          </a:xfrm>
          <a:prstGeom prst="rect">
            <a:avLst/>
          </a:prstGeom>
          <a:solidFill>
            <a:srgbClr val="f5f7fa"/>
          </a:solidFill>
          <a:ln w="12600">
            <a:solidFill>
              <a:srgbClr val="e0e0e0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7" name="CustomShape 3"/>
          <p:cNvSpPr/>
          <p:nvPr/>
        </p:nvSpPr>
        <p:spPr>
          <a:xfrm>
            <a:off x="365760" y="868680"/>
            <a:ext cx="411120" cy="80424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CustomShape 4"/>
          <p:cNvSpPr/>
          <p:nvPr/>
        </p:nvSpPr>
        <p:spPr>
          <a:xfrm>
            <a:off x="365760" y="868680"/>
            <a:ext cx="41112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0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9" name="CustomShape 5"/>
          <p:cNvSpPr/>
          <p:nvPr/>
        </p:nvSpPr>
        <p:spPr>
          <a:xfrm>
            <a:off x="868680" y="905400"/>
            <a:ext cx="301716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Вступление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0" name="CustomShape 6"/>
          <p:cNvSpPr/>
          <p:nvPr/>
        </p:nvSpPr>
        <p:spPr>
          <a:xfrm>
            <a:off x="868680" y="1289160"/>
            <a:ext cx="30171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CustomShape 7"/>
          <p:cNvSpPr/>
          <p:nvPr/>
        </p:nvSpPr>
        <p:spPr>
          <a:xfrm>
            <a:off x="365760" y="1856160"/>
            <a:ext cx="4205880" cy="804240"/>
          </a:xfrm>
          <a:prstGeom prst="rect">
            <a:avLst/>
          </a:prstGeom>
          <a:solidFill>
            <a:srgbClr val="f5f7fa"/>
          </a:solidFill>
          <a:ln w="12600">
            <a:solidFill>
              <a:srgbClr val="e0e0e0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CustomShape 8"/>
          <p:cNvSpPr/>
          <p:nvPr/>
        </p:nvSpPr>
        <p:spPr>
          <a:xfrm>
            <a:off x="365760" y="1856160"/>
            <a:ext cx="411120" cy="80424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CustomShape 9"/>
          <p:cNvSpPr/>
          <p:nvPr/>
        </p:nvSpPr>
        <p:spPr>
          <a:xfrm>
            <a:off x="365760" y="1856160"/>
            <a:ext cx="41112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4" name="CustomShape 10"/>
          <p:cNvSpPr/>
          <p:nvPr/>
        </p:nvSpPr>
        <p:spPr>
          <a:xfrm>
            <a:off x="868680" y="1892880"/>
            <a:ext cx="301716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Зачем вообще API?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5" name="CustomShape 11"/>
          <p:cNvSpPr/>
          <p:nvPr/>
        </p:nvSpPr>
        <p:spPr>
          <a:xfrm>
            <a:off x="868680" y="2277000"/>
            <a:ext cx="30171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CustomShape 12"/>
          <p:cNvSpPr/>
          <p:nvPr/>
        </p:nvSpPr>
        <p:spPr>
          <a:xfrm>
            <a:off x="365760" y="2843640"/>
            <a:ext cx="4205880" cy="804240"/>
          </a:xfrm>
          <a:prstGeom prst="rect">
            <a:avLst/>
          </a:prstGeom>
          <a:solidFill>
            <a:srgbClr val="f5f7fa"/>
          </a:solidFill>
          <a:ln w="12600">
            <a:solidFill>
              <a:srgbClr val="e0e0e0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7" name="CustomShape 13"/>
          <p:cNvSpPr/>
          <p:nvPr/>
        </p:nvSpPr>
        <p:spPr>
          <a:xfrm>
            <a:off x="365760" y="2843640"/>
            <a:ext cx="411120" cy="80424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CustomShape 14"/>
          <p:cNvSpPr/>
          <p:nvPr/>
        </p:nvSpPr>
        <p:spPr>
          <a:xfrm>
            <a:off x="365760" y="2843640"/>
            <a:ext cx="41112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9" name="CustomShape 15"/>
          <p:cNvSpPr/>
          <p:nvPr/>
        </p:nvSpPr>
        <p:spPr>
          <a:xfrm>
            <a:off x="868680" y="2880360"/>
            <a:ext cx="301716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Ресурсы и URL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0" name="CustomShape 16"/>
          <p:cNvSpPr/>
          <p:nvPr/>
        </p:nvSpPr>
        <p:spPr>
          <a:xfrm>
            <a:off x="365760" y="3831480"/>
            <a:ext cx="4205880" cy="804240"/>
          </a:xfrm>
          <a:prstGeom prst="rect">
            <a:avLst/>
          </a:prstGeom>
          <a:solidFill>
            <a:srgbClr val="f5f7fa"/>
          </a:solidFill>
          <a:ln w="12600">
            <a:solidFill>
              <a:srgbClr val="e0e0e0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1" name="CustomShape 17"/>
          <p:cNvSpPr/>
          <p:nvPr/>
        </p:nvSpPr>
        <p:spPr>
          <a:xfrm>
            <a:off x="365760" y="3831480"/>
            <a:ext cx="411120" cy="80424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CustomShape 18"/>
          <p:cNvSpPr/>
          <p:nvPr/>
        </p:nvSpPr>
        <p:spPr>
          <a:xfrm>
            <a:off x="365760" y="3831480"/>
            <a:ext cx="41112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3" name="CustomShape 19"/>
          <p:cNvSpPr/>
          <p:nvPr/>
        </p:nvSpPr>
        <p:spPr>
          <a:xfrm>
            <a:off x="868680" y="3867840"/>
            <a:ext cx="301716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HTTP методы и статус-коды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4" name="CustomShape 20"/>
          <p:cNvSpPr/>
          <p:nvPr/>
        </p:nvSpPr>
        <p:spPr>
          <a:xfrm>
            <a:off x="868680" y="4251960"/>
            <a:ext cx="30171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CustomShape 21"/>
          <p:cNvSpPr/>
          <p:nvPr/>
        </p:nvSpPr>
        <p:spPr>
          <a:xfrm>
            <a:off x="4754880" y="868680"/>
            <a:ext cx="4205880" cy="804240"/>
          </a:xfrm>
          <a:prstGeom prst="rect">
            <a:avLst/>
          </a:prstGeom>
          <a:solidFill>
            <a:srgbClr val="f5f7fa"/>
          </a:solidFill>
          <a:ln w="12600">
            <a:solidFill>
              <a:srgbClr val="e0e0e0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6" name="CustomShape 22"/>
          <p:cNvSpPr/>
          <p:nvPr/>
        </p:nvSpPr>
        <p:spPr>
          <a:xfrm>
            <a:off x="4754880" y="868680"/>
            <a:ext cx="411120" cy="80424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CustomShape 23"/>
          <p:cNvSpPr/>
          <p:nvPr/>
        </p:nvSpPr>
        <p:spPr>
          <a:xfrm>
            <a:off x="4754880" y="868680"/>
            <a:ext cx="41112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88" name="CustomShape 24"/>
          <p:cNvSpPr/>
          <p:nvPr/>
        </p:nvSpPr>
        <p:spPr>
          <a:xfrm>
            <a:off x="5257800" y="905400"/>
            <a:ext cx="301716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Запросы и ответы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89" name="CustomShape 25"/>
          <p:cNvSpPr/>
          <p:nvPr/>
        </p:nvSpPr>
        <p:spPr>
          <a:xfrm>
            <a:off x="5257800" y="1289160"/>
            <a:ext cx="30171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CustomShape 26"/>
          <p:cNvSpPr/>
          <p:nvPr/>
        </p:nvSpPr>
        <p:spPr>
          <a:xfrm>
            <a:off x="4754880" y="1856160"/>
            <a:ext cx="4205880" cy="804240"/>
          </a:xfrm>
          <a:prstGeom prst="rect">
            <a:avLst/>
          </a:prstGeom>
          <a:solidFill>
            <a:srgbClr val="f5f7fa"/>
          </a:solidFill>
          <a:ln w="12600">
            <a:solidFill>
              <a:srgbClr val="e0e0e0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1" name="CustomShape 27"/>
          <p:cNvSpPr/>
          <p:nvPr/>
        </p:nvSpPr>
        <p:spPr>
          <a:xfrm>
            <a:off x="4754880" y="1856160"/>
            <a:ext cx="411120" cy="80424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CustomShape 28"/>
          <p:cNvSpPr/>
          <p:nvPr/>
        </p:nvSpPr>
        <p:spPr>
          <a:xfrm>
            <a:off x="4754880" y="1856160"/>
            <a:ext cx="41112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3" name="CustomShape 29"/>
          <p:cNvSpPr/>
          <p:nvPr/>
        </p:nvSpPr>
        <p:spPr>
          <a:xfrm>
            <a:off x="5257800" y="1892880"/>
            <a:ext cx="301716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Безопасность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4" name="CustomShape 30"/>
          <p:cNvSpPr/>
          <p:nvPr/>
        </p:nvSpPr>
        <p:spPr>
          <a:xfrm>
            <a:off x="5257800" y="2277000"/>
            <a:ext cx="30171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CustomShape 31"/>
          <p:cNvSpPr/>
          <p:nvPr/>
        </p:nvSpPr>
        <p:spPr>
          <a:xfrm>
            <a:off x="4754880" y="2843640"/>
            <a:ext cx="4205880" cy="804240"/>
          </a:xfrm>
          <a:prstGeom prst="rect">
            <a:avLst/>
          </a:prstGeom>
          <a:solidFill>
            <a:srgbClr val="f5f7fa"/>
          </a:solidFill>
          <a:ln w="12600">
            <a:solidFill>
              <a:srgbClr val="e0e0e0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6" name="CustomShape 32"/>
          <p:cNvSpPr/>
          <p:nvPr/>
        </p:nvSpPr>
        <p:spPr>
          <a:xfrm>
            <a:off x="4754880" y="2843640"/>
            <a:ext cx="411120" cy="80424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CustomShape 33"/>
          <p:cNvSpPr/>
          <p:nvPr/>
        </p:nvSpPr>
        <p:spPr>
          <a:xfrm>
            <a:off x="4754880" y="2843640"/>
            <a:ext cx="41112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8" name="CustomShape 34"/>
          <p:cNvSpPr/>
          <p:nvPr/>
        </p:nvSpPr>
        <p:spPr>
          <a:xfrm>
            <a:off x="5257800" y="2880360"/>
            <a:ext cx="301716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Версионирование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99" name="CustomShape 35"/>
          <p:cNvSpPr/>
          <p:nvPr/>
        </p:nvSpPr>
        <p:spPr>
          <a:xfrm>
            <a:off x="5257800" y="3264480"/>
            <a:ext cx="30171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CustomShape 36"/>
          <p:cNvSpPr/>
          <p:nvPr/>
        </p:nvSpPr>
        <p:spPr>
          <a:xfrm>
            <a:off x="4754880" y="3831480"/>
            <a:ext cx="4205880" cy="804240"/>
          </a:xfrm>
          <a:prstGeom prst="rect">
            <a:avLst/>
          </a:prstGeom>
          <a:solidFill>
            <a:srgbClr val="f5f7fa"/>
          </a:solidFill>
          <a:ln w="12600">
            <a:solidFill>
              <a:srgbClr val="e0e0e0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CustomShape 37"/>
          <p:cNvSpPr/>
          <p:nvPr/>
        </p:nvSpPr>
        <p:spPr>
          <a:xfrm>
            <a:off x="4754880" y="3831480"/>
            <a:ext cx="411120" cy="80424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CustomShape 38"/>
          <p:cNvSpPr/>
          <p:nvPr/>
        </p:nvSpPr>
        <p:spPr>
          <a:xfrm>
            <a:off x="4754880" y="3831480"/>
            <a:ext cx="41112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7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03" name="CustomShape 39"/>
          <p:cNvSpPr/>
          <p:nvPr/>
        </p:nvSpPr>
        <p:spPr>
          <a:xfrm>
            <a:off x="5257800" y="3867840"/>
            <a:ext cx="301716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Итог и Q&amp;A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04" name="CustomShape 40"/>
          <p:cNvSpPr/>
          <p:nvPr/>
        </p:nvSpPr>
        <p:spPr>
          <a:xfrm>
            <a:off x="5257800" y="4251960"/>
            <a:ext cx="30171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CustomShape 41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06" name="Google Shape;299;p34_2" descr=""/>
          <p:cNvPicPr/>
          <p:nvPr/>
        </p:nvPicPr>
        <p:blipFill>
          <a:blip r:embed="rId1"/>
          <a:stretch/>
        </p:blipFill>
        <p:spPr>
          <a:xfrm>
            <a:off x="8440560" y="4181040"/>
            <a:ext cx="351000" cy="527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ustomShape 1"/>
          <p:cNvSpPr/>
          <p:nvPr/>
        </p:nvSpPr>
        <p:spPr>
          <a:xfrm>
            <a:off x="548640" y="1371600"/>
            <a:ext cx="804636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bbdefb"/>
                </a:solidFill>
                <a:latin typeface="Arial"/>
                <a:ea typeface="Arial"/>
              </a:rPr>
              <a:t>Блок 0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8" name="CustomShape 2"/>
          <p:cNvSpPr/>
          <p:nvPr/>
        </p:nvSpPr>
        <p:spPr>
          <a:xfrm>
            <a:off x="548640" y="1920240"/>
            <a:ext cx="8046360" cy="12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a1a2e"/>
                </a:solidFill>
                <a:latin typeface="Arial"/>
                <a:ea typeface="Arial"/>
              </a:rPr>
              <a:t>Вступление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09" name="CustomShape 3"/>
          <p:cNvSpPr/>
          <p:nvPr/>
        </p:nvSpPr>
        <p:spPr>
          <a:xfrm>
            <a:off x="548640" y="3401640"/>
            <a:ext cx="164556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⏱  </a:t>
            </a: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5 минут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0" name="CustomShape 4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CustomShape 1"/>
          <p:cNvSpPr/>
          <p:nvPr/>
        </p:nvSpPr>
        <p:spPr>
          <a:xfrm>
            <a:off x="548640" y="548640"/>
            <a:ext cx="8046360" cy="4046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pc="-1" strike="noStrike">
                <a:solidFill>
                  <a:srgbClr val="1a1a2e"/>
                </a:solidFill>
                <a:latin typeface="Arial"/>
              </a:rPr>
              <a:t>REST API — </a:t>
            </a:r>
            <a:r>
              <a:rPr b="0" lang="ru-RU" sz="2000" spc="-1" strike="noStrike">
                <a:solidFill>
                  <a:srgbClr val="1a1a2e"/>
                </a:solidFill>
                <a:latin typeface="Arial"/>
              </a:rPr>
              <a:t>язык, на </a:t>
            </a:r>
            <a:r>
              <a:rPr b="0" lang="ru-RU" sz="2000" spc="-1" strike="noStrike">
                <a:solidFill>
                  <a:srgbClr val="1a1a2e"/>
                </a:solidFill>
                <a:latin typeface="Arial"/>
              </a:rPr>
              <a:t>котором </a:t>
            </a:r>
            <a:r>
              <a:rPr b="0" lang="ru-RU" sz="2000" spc="-1" strike="noStrike">
                <a:solidFill>
                  <a:srgbClr val="1a1a2e"/>
                </a:solidFill>
                <a:latin typeface="Arial"/>
              </a:rPr>
              <a:t>разговаривают </a:t>
            </a:r>
            <a:r>
              <a:rPr b="0" lang="ru-RU" sz="2000" spc="-1" strike="noStrike">
                <a:solidFill>
                  <a:srgbClr val="1a1a2e"/>
                </a:solidFill>
                <a:latin typeface="Arial"/>
              </a:rPr>
              <a:t>все </a:t>
            </a:r>
            <a:r>
              <a:rPr b="0" lang="ru-RU" sz="2000" spc="-1" strike="noStrike">
                <a:solidFill>
                  <a:srgbClr val="1a1a2e"/>
                </a:solidFill>
                <a:latin typeface="Arial"/>
              </a:rPr>
              <a:t>современные </a:t>
            </a:r>
            <a:r>
              <a:rPr b="0" lang="ru-RU" sz="2000" spc="-1" strike="noStrike">
                <a:solidFill>
                  <a:srgbClr val="1a1a2e"/>
                </a:solidFill>
                <a:latin typeface="Arial"/>
              </a:rPr>
              <a:t>сервисы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37474f"/>
                </a:solidFill>
                <a:latin typeface="Arial"/>
              </a:rPr>
              <a:t>Джун </a:t>
            </a:r>
            <a:r>
              <a:rPr b="0" lang="ru-RU" sz="1800" spc="-1" strike="noStrike">
                <a:solidFill>
                  <a:srgbClr val="37474f"/>
                </a:solidFill>
                <a:latin typeface="Arial"/>
              </a:rPr>
              <a:t>сталкивается с </a:t>
            </a:r>
            <a:r>
              <a:rPr b="0" lang="ru-RU" sz="1800" spc="-1" strike="noStrike">
                <a:solidFill>
                  <a:srgbClr val="37474f"/>
                </a:solidFill>
                <a:latin typeface="Arial"/>
              </a:rPr>
              <a:t>ним в первую же </a:t>
            </a:r>
            <a:r>
              <a:rPr b="0" lang="ru-RU" sz="1800" spc="-1" strike="noStrike">
                <a:solidFill>
                  <a:srgbClr val="37474f"/>
                </a:solidFill>
                <a:latin typeface="Arial"/>
              </a:rPr>
              <a:t>неделю на любом </a:t>
            </a:r>
            <a:r>
              <a:rPr b="0" lang="ru-RU" sz="1800" spc="-1" strike="noStrike">
                <a:solidFill>
                  <a:srgbClr val="37474f"/>
                </a:solidFill>
                <a:latin typeface="Arial"/>
              </a:rPr>
              <a:t>проекте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37474f"/>
                </a:solidFill>
                <a:latin typeface="Arial"/>
              </a:rPr>
              <a:t>Большинство </a:t>
            </a:r>
            <a:r>
              <a:rPr b="0" lang="ru-RU" sz="1800" spc="-1" strike="noStrike">
                <a:solidFill>
                  <a:srgbClr val="37474f"/>
                </a:solidFill>
                <a:latin typeface="Arial"/>
              </a:rPr>
              <a:t>проблем в </a:t>
            </a:r>
            <a:r>
              <a:rPr b="0" lang="ru-RU" sz="1800" spc="-1" strike="noStrike">
                <a:solidFill>
                  <a:srgbClr val="37474f"/>
                </a:solidFill>
                <a:latin typeface="Arial"/>
              </a:rPr>
              <a:t>интеграциях — </a:t>
            </a:r>
            <a:r>
              <a:rPr b="0" lang="ru-RU" sz="1800" spc="-1" strike="noStrike">
                <a:solidFill>
                  <a:srgbClr val="37474f"/>
                </a:solidFill>
                <a:latin typeface="Arial"/>
              </a:rPr>
              <a:t>это нарушение </a:t>
            </a:r>
            <a:r>
              <a:rPr b="0" lang="ru-RU" sz="1800" spc="-1" strike="noStrike">
                <a:solidFill>
                  <a:srgbClr val="37474f"/>
                </a:solidFill>
                <a:latin typeface="Arial"/>
              </a:rPr>
              <a:t>базовых </a:t>
            </a:r>
            <a:r>
              <a:rPr b="0" lang="ru-RU" sz="1800" spc="-1" strike="noStrike">
                <a:solidFill>
                  <a:srgbClr val="37474f"/>
                </a:solidFill>
                <a:latin typeface="Arial"/>
              </a:rPr>
              <a:t>принципов REST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1e88e5"/>
                </a:solidFill>
                <a:latin typeface="Arial"/>
              </a:rPr>
              <a:t>После этого </a:t>
            </a:r>
            <a:r>
              <a:rPr b="1" lang="ru-RU" sz="1800" spc="-1" strike="noStrike">
                <a:solidFill>
                  <a:srgbClr val="1e88e5"/>
                </a:solidFill>
                <a:latin typeface="Arial"/>
              </a:rPr>
              <a:t>вебинара у вас </a:t>
            </a:r>
            <a:r>
              <a:rPr b="1" lang="ru-RU" sz="1800" spc="-1" strike="noStrike">
                <a:solidFill>
                  <a:srgbClr val="1e88e5"/>
                </a:solidFill>
                <a:latin typeface="Arial"/>
              </a:rPr>
              <a:t>будет чёткая </a:t>
            </a:r>
            <a:r>
              <a:rPr b="1" lang="ru-RU" sz="1800" spc="-1" strike="noStrike">
                <a:solidFill>
                  <a:srgbClr val="1e88e5"/>
                </a:solidFill>
                <a:latin typeface="Arial"/>
              </a:rPr>
              <a:t>картина: что </a:t>
            </a:r>
            <a:r>
              <a:rPr b="1" lang="ru-RU" sz="1800" spc="-1" strike="noStrike">
                <a:solidFill>
                  <a:srgbClr val="1e88e5"/>
                </a:solidFill>
                <a:latin typeface="Arial"/>
              </a:rPr>
              <a:t>правильно, что </a:t>
            </a:r>
            <a:r>
              <a:rPr b="1" lang="ru-RU" sz="1800" spc="-1" strike="noStrike">
                <a:solidFill>
                  <a:srgbClr val="1e88e5"/>
                </a:solidFill>
                <a:latin typeface="Arial"/>
              </a:rPr>
              <a:t>нет и почему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2" name="CustomShape 2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13" name="Google Shape;299;p34_3" descr=""/>
          <p:cNvPicPr/>
          <p:nvPr/>
        </p:nvPicPr>
        <p:blipFill>
          <a:blip r:embed="rId1"/>
          <a:stretch/>
        </p:blipFill>
        <p:spPr>
          <a:xfrm>
            <a:off x="8440560" y="4181040"/>
            <a:ext cx="351000" cy="527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1"/>
          <p:cNvSpPr/>
          <p:nvPr/>
        </p:nvSpPr>
        <p:spPr>
          <a:xfrm>
            <a:off x="548640" y="1371600"/>
            <a:ext cx="804636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bbdefb"/>
                </a:solidFill>
                <a:latin typeface="Arial"/>
                <a:ea typeface="Arial"/>
              </a:rPr>
              <a:t>Блок 1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5" name="CustomShape 2"/>
          <p:cNvSpPr/>
          <p:nvPr/>
        </p:nvSpPr>
        <p:spPr>
          <a:xfrm>
            <a:off x="548640" y="1920240"/>
            <a:ext cx="8046360" cy="12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a1a2e"/>
                </a:solidFill>
                <a:latin typeface="Arial"/>
                <a:ea typeface="Arial"/>
              </a:rPr>
              <a:t>Зачем вообще API?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16" name="CustomShape 3"/>
          <p:cNvSpPr/>
          <p:nvPr/>
        </p:nvSpPr>
        <p:spPr>
          <a:xfrm>
            <a:off x="548640" y="3383280"/>
            <a:ext cx="1645560" cy="347040"/>
          </a:xfrm>
          <a:prstGeom prst="rect">
            <a:avLst/>
          </a:prstGeom>
          <a:solidFill>
            <a:srgbClr val="ffffff">
              <a:alpha val="20000"/>
            </a:srgbClr>
          </a:solidFill>
          <a:ln w="126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CustomShape 4"/>
          <p:cNvSpPr/>
          <p:nvPr/>
        </p:nvSpPr>
        <p:spPr>
          <a:xfrm>
            <a:off x="548640" y="3401640"/>
            <a:ext cx="164556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⏱  </a:t>
            </a: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10 минут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8" name="CustomShape 5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stomShape 1"/>
          <p:cNvSpPr/>
          <p:nvPr/>
        </p:nvSpPr>
        <p:spPr>
          <a:xfrm>
            <a:off x="432000" y="0"/>
            <a:ext cx="850356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Блок 1 — Зачем вообще API?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20" name="CustomShape 2"/>
          <p:cNvSpPr/>
          <p:nvPr/>
        </p:nvSpPr>
        <p:spPr>
          <a:xfrm>
            <a:off x="365760" y="777240"/>
            <a:ext cx="8412120" cy="36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62828"/>
                </a:solidFill>
                <a:latin typeface="Arial"/>
                <a:ea typeface="Arial"/>
              </a:rPr>
              <a:t>Боль: хаос без стандартов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21" name="CustomShape 3"/>
          <p:cNvSpPr/>
          <p:nvPr/>
        </p:nvSpPr>
        <p:spPr>
          <a:xfrm>
            <a:off x="365760" y="1188720"/>
            <a:ext cx="5028840" cy="63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Как разным клиентам работать с одними данными? Прямой доступ к БД, бинарный RPC, XML… Всё это — путь к боли.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2" name="CustomShape 4"/>
          <p:cNvSpPr/>
          <p:nvPr/>
        </p:nvSpPr>
        <p:spPr>
          <a:xfrm>
            <a:off x="365760" y="1920240"/>
            <a:ext cx="5028840" cy="731160"/>
          </a:xfrm>
          <a:prstGeom prst="rect">
            <a:avLst/>
          </a:prstGeom>
          <a:solidFill>
            <a:srgbClr val="e3f2fd"/>
          </a:solidFill>
          <a:ln w="12600">
            <a:solidFill>
              <a:srgbClr val="e3f2f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CustomShape 5"/>
          <p:cNvSpPr/>
          <p:nvPr/>
        </p:nvSpPr>
        <p:spPr>
          <a:xfrm>
            <a:off x="475560" y="1920240"/>
            <a:ext cx="4891680" cy="73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565c0"/>
                </a:solidFill>
                <a:latin typeface="Arial"/>
                <a:ea typeface="Arial"/>
              </a:rPr>
              <a:t>В нулевых доминировал SOAP — XML поверх HTTP с жёсткими схемами. REST появился как ответ на эту сложность.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24" name="CustomShape 6"/>
          <p:cNvSpPr/>
          <p:nvPr/>
        </p:nvSpPr>
        <p:spPr>
          <a:xfrm>
            <a:off x="5669280" y="777240"/>
            <a:ext cx="3200040" cy="36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88e5"/>
                </a:solidFill>
                <a:latin typeface="Arial"/>
                <a:ea typeface="Arial"/>
              </a:rPr>
              <a:t>REST — это не библиотека и не протокол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5" name="CustomShape 7"/>
          <p:cNvSpPr/>
          <p:nvPr/>
        </p:nvSpPr>
        <p:spPr>
          <a:xfrm>
            <a:off x="5669280" y="1234440"/>
            <a:ext cx="3200040" cy="475200"/>
          </a:xfrm>
          <a:prstGeom prst="rect">
            <a:avLst/>
          </a:prstGeom>
          <a:solidFill>
            <a:srgbClr val="f5f7fa"/>
          </a:solidFill>
          <a:ln w="126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CustomShape 8"/>
          <p:cNvSpPr/>
          <p:nvPr/>
        </p:nvSpPr>
        <p:spPr>
          <a:xfrm>
            <a:off x="5806440" y="1234440"/>
            <a:ext cx="30171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Набор архитектурных ограничений (Филдинг, 2000)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7" name="CustomShape 9"/>
          <p:cNvSpPr/>
          <p:nvPr/>
        </p:nvSpPr>
        <p:spPr>
          <a:xfrm>
            <a:off x="5669280" y="1801440"/>
            <a:ext cx="3200040" cy="475200"/>
          </a:xfrm>
          <a:prstGeom prst="rect">
            <a:avLst/>
          </a:prstGeom>
          <a:solidFill>
            <a:srgbClr val="ffffff"/>
          </a:solidFill>
          <a:ln w="126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CustomShape 10"/>
          <p:cNvSpPr/>
          <p:nvPr/>
        </p:nvSpPr>
        <p:spPr>
          <a:xfrm>
            <a:off x="5806440" y="1801440"/>
            <a:ext cx="30171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Работает поверх обычного HTTP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9" name="CustomShape 11"/>
          <p:cNvSpPr/>
          <p:nvPr/>
        </p:nvSpPr>
        <p:spPr>
          <a:xfrm>
            <a:off x="5669280" y="2368440"/>
            <a:ext cx="3200040" cy="475200"/>
          </a:xfrm>
          <a:prstGeom prst="rect">
            <a:avLst/>
          </a:prstGeom>
          <a:solidFill>
            <a:srgbClr val="f5f7fa"/>
          </a:solidFill>
          <a:ln w="126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CustomShape 12"/>
          <p:cNvSpPr/>
          <p:nvPr/>
        </p:nvSpPr>
        <p:spPr>
          <a:xfrm>
            <a:off x="5806440" y="2368440"/>
            <a:ext cx="30171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Читаемые URL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1" name="CustomShape 13"/>
          <p:cNvSpPr/>
          <p:nvPr/>
        </p:nvSpPr>
        <p:spPr>
          <a:xfrm>
            <a:off x="5669280" y="2935080"/>
            <a:ext cx="3200040" cy="475200"/>
          </a:xfrm>
          <a:prstGeom prst="rect">
            <a:avLst/>
          </a:prstGeom>
          <a:solidFill>
            <a:srgbClr val="ffffff"/>
          </a:solidFill>
          <a:ln w="126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CustomShape 14"/>
          <p:cNvSpPr/>
          <p:nvPr/>
        </p:nvSpPr>
        <p:spPr>
          <a:xfrm>
            <a:off x="5806440" y="2935080"/>
            <a:ext cx="30171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Легко тестировать — curl или Postman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3" name="CustomShape 15"/>
          <p:cNvSpPr/>
          <p:nvPr/>
        </p:nvSpPr>
        <p:spPr>
          <a:xfrm>
            <a:off x="5669280" y="3502080"/>
            <a:ext cx="3200040" cy="475200"/>
          </a:xfrm>
          <a:prstGeom prst="rect">
            <a:avLst/>
          </a:prstGeom>
          <a:solidFill>
            <a:srgbClr val="f5f7fa"/>
          </a:solidFill>
          <a:ln w="126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CustomShape 16"/>
          <p:cNvSpPr/>
          <p:nvPr/>
        </p:nvSpPr>
        <p:spPr>
          <a:xfrm>
            <a:off x="5806440" y="3502080"/>
            <a:ext cx="30171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Огромная экосистема инструментов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5" name="CustomShape 17"/>
          <p:cNvSpPr/>
          <p:nvPr/>
        </p:nvSpPr>
        <p:spPr>
          <a:xfrm>
            <a:off x="365760" y="2788920"/>
            <a:ext cx="502884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API как контракт: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36" name="CustomShape 18"/>
          <p:cNvSpPr/>
          <p:nvPr/>
        </p:nvSpPr>
        <p:spPr>
          <a:xfrm>
            <a:off x="365760" y="3108960"/>
            <a:ext cx="5028840" cy="63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Сервер говорит: «Если ты пришлёшь мне вот это — я отвечу вот этим». Клиент не знает, что внутри сервера.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37" name="CustomShape 19"/>
          <p:cNvSpPr/>
          <p:nvPr/>
        </p:nvSpPr>
        <p:spPr>
          <a:xfrm>
            <a:off x="365760" y="3840480"/>
            <a:ext cx="8412120" cy="822600"/>
          </a:xfrm>
          <a:prstGeom prst="rect">
            <a:avLst/>
          </a:prstGeom>
          <a:solidFill>
            <a:srgbClr val="fff3e0"/>
          </a:solidFill>
          <a:ln w="12600">
            <a:solidFill>
              <a:srgbClr val="fff3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CustomShape 20"/>
          <p:cNvSpPr/>
          <p:nvPr/>
        </p:nvSpPr>
        <p:spPr>
          <a:xfrm>
            <a:off x="475560" y="3840480"/>
            <a:ext cx="8274960" cy="822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65100"/>
                </a:solidFill>
                <a:latin typeface="Arial"/>
                <a:ea typeface="Arial"/>
              </a:rPr>
              <a:t>💡 </a:t>
            </a:r>
            <a:r>
              <a:rPr b="0" lang="en-US" sz="1300" spc="-1" strike="noStrike">
                <a:solidFill>
                  <a:srgbClr val="e65100"/>
                </a:solidFill>
                <a:latin typeface="Arial"/>
                <a:ea typeface="Arial"/>
              </a:rPr>
              <a:t>REST — скорее соглашение, чем спецификация. Нет жёсткого стандарта. Поэтому встречаются «REST API», которые нарушают базовые принципы.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39" name="CustomShape 21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40" name="Google Shape;299;p34_4" descr=""/>
          <p:cNvPicPr/>
          <p:nvPr/>
        </p:nvPicPr>
        <p:blipFill>
          <a:blip r:embed="rId1"/>
          <a:stretch/>
        </p:blipFill>
        <p:spPr>
          <a:xfrm>
            <a:off x="8440560" y="4181040"/>
            <a:ext cx="351000" cy="527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CustomShape 1"/>
          <p:cNvSpPr/>
          <p:nvPr/>
        </p:nvSpPr>
        <p:spPr>
          <a:xfrm>
            <a:off x="594360" y="201240"/>
            <a:ext cx="84121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6 </a:t>
            </a: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ограничени</a:t>
            </a: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й REST по </a:t>
            </a: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Филдингу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2" name="Line 2"/>
          <p:cNvSpPr/>
          <p:nvPr/>
        </p:nvSpPr>
        <p:spPr>
          <a:xfrm>
            <a:off x="594360" y="749520"/>
            <a:ext cx="8412480" cy="0"/>
          </a:xfrm>
          <a:prstGeom prst="line">
            <a:avLst/>
          </a:prstGeom>
          <a:ln w="1008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CustomShape 3"/>
          <p:cNvSpPr/>
          <p:nvPr/>
        </p:nvSpPr>
        <p:spPr>
          <a:xfrm>
            <a:off x="594360" y="868680"/>
            <a:ext cx="2651400" cy="1737000"/>
          </a:xfrm>
          <a:prstGeom prst="roundRect">
            <a:avLst>
              <a:gd name="adj" fmla="val 4211"/>
            </a:avLst>
          </a:prstGeom>
          <a:solidFill>
            <a:srgbClr val="e3f2fd"/>
          </a:solidFill>
          <a:ln w="648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CustomShape 4"/>
          <p:cNvSpPr/>
          <p:nvPr/>
        </p:nvSpPr>
        <p:spPr>
          <a:xfrm>
            <a:off x="594360" y="868680"/>
            <a:ext cx="63720" cy="1737000"/>
          </a:xfrm>
          <a:prstGeom prst="rect">
            <a:avLst/>
          </a:prstGeom>
          <a:solidFill>
            <a:srgbClr val="1e88e5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CustomShape 5"/>
          <p:cNvSpPr/>
          <p:nvPr/>
        </p:nvSpPr>
        <p:spPr>
          <a:xfrm>
            <a:off x="713160" y="960120"/>
            <a:ext cx="292320" cy="292320"/>
          </a:xfrm>
          <a:prstGeom prst="ellipse">
            <a:avLst/>
          </a:prstGeom>
          <a:solidFill>
            <a:srgbClr val="1e88e5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CustomShape 6"/>
          <p:cNvSpPr/>
          <p:nvPr/>
        </p:nvSpPr>
        <p:spPr>
          <a:xfrm>
            <a:off x="713160" y="9601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7" name="CustomShape 7"/>
          <p:cNvSpPr/>
          <p:nvPr/>
        </p:nvSpPr>
        <p:spPr>
          <a:xfrm>
            <a:off x="1069920" y="960120"/>
            <a:ext cx="2084400" cy="30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e88e5"/>
                </a:solidFill>
                <a:latin typeface="Arial"/>
                <a:ea typeface="Arial"/>
              </a:rPr>
              <a:t>Client-Server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8" name="CustomShape 8"/>
          <p:cNvSpPr/>
          <p:nvPr/>
        </p:nvSpPr>
        <p:spPr>
          <a:xfrm>
            <a:off x="1069920" y="1261800"/>
            <a:ext cx="208440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55555"/>
                </a:solidFill>
                <a:latin typeface="Arial"/>
                <a:ea typeface="Arial"/>
              </a:rPr>
              <a:t>Разделение интерфейса и логики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49" name="CustomShape 9"/>
          <p:cNvSpPr/>
          <p:nvPr/>
        </p:nvSpPr>
        <p:spPr>
          <a:xfrm>
            <a:off x="713160" y="1472040"/>
            <a:ext cx="2441160" cy="104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33333"/>
                </a:solidFill>
                <a:latin typeface="Arial"/>
                <a:ea typeface="Arial"/>
              </a:rPr>
              <a:t>Клиент не знает про БД. Сервер не </a:t>
            </a:r>
            <a:r>
              <a:rPr b="0" lang="en-US" sz="850" spc="-1" strike="noStrike">
                <a:solidFill>
                  <a:srgbClr val="333333"/>
                </a:solidFill>
                <a:latin typeface="Arial"/>
                <a:ea typeface="Arial"/>
              </a:rPr>
              <a:t>знает про UI. Общение только через </a:t>
            </a:r>
            <a:r>
              <a:rPr b="0" lang="en-US" sz="850" spc="-1" strike="noStrike">
                <a:solidFill>
                  <a:srgbClr val="333333"/>
                </a:solidFill>
                <a:latin typeface="Arial"/>
                <a:ea typeface="Arial"/>
              </a:rPr>
              <a:t>API — можно развивать независимо.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50" name="CustomShape 10"/>
          <p:cNvSpPr/>
          <p:nvPr/>
        </p:nvSpPr>
        <p:spPr>
          <a:xfrm>
            <a:off x="3410640" y="868680"/>
            <a:ext cx="2651400" cy="1737000"/>
          </a:xfrm>
          <a:prstGeom prst="roundRect">
            <a:avLst>
              <a:gd name="adj" fmla="val 4211"/>
            </a:avLst>
          </a:prstGeom>
          <a:solidFill>
            <a:srgbClr val="e8f5e9"/>
          </a:solidFill>
          <a:ln w="6480">
            <a:solidFill>
              <a:srgbClr val="43a04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CustomShape 11"/>
          <p:cNvSpPr/>
          <p:nvPr/>
        </p:nvSpPr>
        <p:spPr>
          <a:xfrm>
            <a:off x="3410640" y="868680"/>
            <a:ext cx="63720" cy="1737000"/>
          </a:xfrm>
          <a:prstGeom prst="rect">
            <a:avLst/>
          </a:prstGeom>
          <a:solidFill>
            <a:srgbClr val="43a047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CustomShape 12"/>
          <p:cNvSpPr/>
          <p:nvPr/>
        </p:nvSpPr>
        <p:spPr>
          <a:xfrm>
            <a:off x="3529440" y="960120"/>
            <a:ext cx="292320" cy="292320"/>
          </a:xfrm>
          <a:prstGeom prst="ellipse">
            <a:avLst/>
          </a:prstGeom>
          <a:solidFill>
            <a:srgbClr val="43a047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CustomShape 13"/>
          <p:cNvSpPr/>
          <p:nvPr/>
        </p:nvSpPr>
        <p:spPr>
          <a:xfrm>
            <a:off x="3529440" y="9601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54" name="CustomShape 14"/>
          <p:cNvSpPr/>
          <p:nvPr/>
        </p:nvSpPr>
        <p:spPr>
          <a:xfrm>
            <a:off x="3886200" y="960120"/>
            <a:ext cx="2084400" cy="30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3a047"/>
                </a:solidFill>
                <a:latin typeface="Arial"/>
                <a:ea typeface="Arial"/>
              </a:rPr>
              <a:t>Stateless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55" name="CustomShape 15"/>
          <p:cNvSpPr/>
          <p:nvPr/>
        </p:nvSpPr>
        <p:spPr>
          <a:xfrm>
            <a:off x="3886200" y="1261800"/>
            <a:ext cx="208440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55555"/>
                </a:solidFill>
                <a:latin typeface="Arial"/>
                <a:ea typeface="Arial"/>
              </a:rPr>
              <a:t>Никаких сессий в </a:t>
            </a:r>
            <a:r>
              <a:rPr b="0" i="1" lang="en-US" sz="850" spc="-1" strike="noStrike">
                <a:solidFill>
                  <a:srgbClr val="555555"/>
                </a:solidFill>
                <a:latin typeface="Arial"/>
                <a:ea typeface="Arial"/>
              </a:rPr>
              <a:t>памяти сервера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56" name="CustomShape 16"/>
          <p:cNvSpPr/>
          <p:nvPr/>
        </p:nvSpPr>
        <p:spPr>
          <a:xfrm>
            <a:off x="3529440" y="1472040"/>
            <a:ext cx="2441160" cy="104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33333"/>
                </a:solidFill>
                <a:latin typeface="Arial"/>
                <a:ea typeface="Arial"/>
              </a:rPr>
              <a:t>Сервер не помнит контекст. Каждый запрос самодостаточен: ID, </a:t>
            </a:r>
            <a:r>
              <a:rPr b="0" lang="en-US" sz="850" spc="-1" strike="noStrike">
                <a:solidFill>
                  <a:srgbClr val="333333"/>
                </a:solidFill>
                <a:latin typeface="Arial"/>
                <a:ea typeface="Arial"/>
              </a:rPr>
              <a:t>токен и данные — всё внутри.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57" name="CustomShape 17"/>
          <p:cNvSpPr/>
          <p:nvPr/>
        </p:nvSpPr>
        <p:spPr>
          <a:xfrm>
            <a:off x="6226920" y="868680"/>
            <a:ext cx="2651400" cy="1737000"/>
          </a:xfrm>
          <a:prstGeom prst="roundRect">
            <a:avLst>
              <a:gd name="adj" fmla="val 4211"/>
            </a:avLst>
          </a:prstGeom>
          <a:solidFill>
            <a:srgbClr val="fff3e0"/>
          </a:solidFill>
          <a:ln w="6480">
            <a:solidFill>
              <a:srgbClr val="fb8c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CustomShape 18"/>
          <p:cNvSpPr/>
          <p:nvPr/>
        </p:nvSpPr>
        <p:spPr>
          <a:xfrm>
            <a:off x="6226920" y="868680"/>
            <a:ext cx="63720" cy="1737000"/>
          </a:xfrm>
          <a:prstGeom prst="rect">
            <a:avLst/>
          </a:prstGeom>
          <a:solidFill>
            <a:srgbClr val="fb8c00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CustomShape 19"/>
          <p:cNvSpPr/>
          <p:nvPr/>
        </p:nvSpPr>
        <p:spPr>
          <a:xfrm>
            <a:off x="6346080" y="960120"/>
            <a:ext cx="292320" cy="292320"/>
          </a:xfrm>
          <a:prstGeom prst="ellipse">
            <a:avLst/>
          </a:prstGeom>
          <a:solidFill>
            <a:srgbClr val="fb8c00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CustomShape 20"/>
          <p:cNvSpPr/>
          <p:nvPr/>
        </p:nvSpPr>
        <p:spPr>
          <a:xfrm>
            <a:off x="6346080" y="9601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1" name="CustomShape 21"/>
          <p:cNvSpPr/>
          <p:nvPr/>
        </p:nvSpPr>
        <p:spPr>
          <a:xfrm>
            <a:off x="6702480" y="960120"/>
            <a:ext cx="2084400" cy="30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b8c00"/>
                </a:solidFill>
                <a:latin typeface="Arial"/>
                <a:ea typeface="Arial"/>
              </a:rPr>
              <a:t>Cacheable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2" name="CustomShape 22"/>
          <p:cNvSpPr/>
          <p:nvPr/>
        </p:nvSpPr>
        <p:spPr>
          <a:xfrm>
            <a:off x="6702480" y="1261800"/>
            <a:ext cx="208440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55555"/>
                </a:solidFill>
                <a:latin typeface="Arial"/>
                <a:ea typeface="Arial"/>
              </a:rPr>
              <a:t>Экономия трафика и ресурсов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63" name="CustomShape 23"/>
          <p:cNvSpPr/>
          <p:nvPr/>
        </p:nvSpPr>
        <p:spPr>
          <a:xfrm>
            <a:off x="6346080" y="1472040"/>
            <a:ext cx="2441160" cy="104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33333"/>
                </a:solidFill>
                <a:latin typeface="Arial"/>
                <a:ea typeface="Arial"/>
              </a:rPr>
              <a:t>Ответ помечается: можно кэшировать или нет (Cache-Control). CDN / прокси отдают кэш, не трогая бэкенд.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64" name="CustomShape 24"/>
          <p:cNvSpPr/>
          <p:nvPr/>
        </p:nvSpPr>
        <p:spPr>
          <a:xfrm>
            <a:off x="594360" y="2743200"/>
            <a:ext cx="2651400" cy="1737000"/>
          </a:xfrm>
          <a:prstGeom prst="roundRect">
            <a:avLst>
              <a:gd name="adj" fmla="val 4211"/>
            </a:avLst>
          </a:prstGeom>
          <a:solidFill>
            <a:srgbClr val="f3e5f5"/>
          </a:solidFill>
          <a:ln w="6480">
            <a:solidFill>
              <a:srgbClr val="8e24a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CustomShape 25"/>
          <p:cNvSpPr/>
          <p:nvPr/>
        </p:nvSpPr>
        <p:spPr>
          <a:xfrm>
            <a:off x="594360" y="2743200"/>
            <a:ext cx="63720" cy="1737000"/>
          </a:xfrm>
          <a:prstGeom prst="rect">
            <a:avLst/>
          </a:prstGeom>
          <a:solidFill>
            <a:srgbClr val="8e24aa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CustomShape 26"/>
          <p:cNvSpPr/>
          <p:nvPr/>
        </p:nvSpPr>
        <p:spPr>
          <a:xfrm>
            <a:off x="713160" y="2834640"/>
            <a:ext cx="292320" cy="292320"/>
          </a:xfrm>
          <a:prstGeom prst="ellipse">
            <a:avLst/>
          </a:prstGeom>
          <a:solidFill>
            <a:srgbClr val="8e24aa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CustomShape 27"/>
          <p:cNvSpPr/>
          <p:nvPr/>
        </p:nvSpPr>
        <p:spPr>
          <a:xfrm>
            <a:off x="713160" y="283464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8" name="CustomShape 28"/>
          <p:cNvSpPr/>
          <p:nvPr/>
        </p:nvSpPr>
        <p:spPr>
          <a:xfrm>
            <a:off x="1069920" y="2834640"/>
            <a:ext cx="2084400" cy="30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8e24aa"/>
                </a:solidFill>
                <a:latin typeface="Arial"/>
                <a:ea typeface="Arial"/>
              </a:rPr>
              <a:t>Uniform Interface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69" name="CustomShape 29"/>
          <p:cNvSpPr/>
          <p:nvPr/>
        </p:nvSpPr>
        <p:spPr>
          <a:xfrm>
            <a:off x="1069920" y="3136320"/>
            <a:ext cx="208440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55555"/>
                </a:solidFill>
                <a:latin typeface="Arial"/>
                <a:ea typeface="Arial"/>
              </a:rPr>
              <a:t>Главный закон предсказуемости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0" name="CustomShape 30"/>
          <p:cNvSpPr/>
          <p:nvPr/>
        </p:nvSpPr>
        <p:spPr>
          <a:xfrm>
            <a:off x="713160" y="3346560"/>
            <a:ext cx="2441160" cy="104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33333"/>
                </a:solidFill>
                <a:latin typeface="Arial"/>
                <a:ea typeface="Arial"/>
              </a:rPr>
              <a:t>Ресурсы по URL (/users/42), методы HTTP (GET/POST…), JSON + статус-коды. Один стандарт для всего.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1" name="CustomShape 31"/>
          <p:cNvSpPr/>
          <p:nvPr/>
        </p:nvSpPr>
        <p:spPr>
          <a:xfrm>
            <a:off x="3410640" y="2743200"/>
            <a:ext cx="2651400" cy="1737000"/>
          </a:xfrm>
          <a:prstGeom prst="roundRect">
            <a:avLst>
              <a:gd name="adj" fmla="val 4211"/>
            </a:avLst>
          </a:prstGeom>
          <a:solidFill>
            <a:srgbClr val="ffebee"/>
          </a:solidFill>
          <a:ln w="648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CustomShape 32"/>
          <p:cNvSpPr/>
          <p:nvPr/>
        </p:nvSpPr>
        <p:spPr>
          <a:xfrm>
            <a:off x="3410640" y="2743200"/>
            <a:ext cx="63720" cy="1737000"/>
          </a:xfrm>
          <a:prstGeom prst="rect">
            <a:avLst/>
          </a:prstGeom>
          <a:solidFill>
            <a:srgbClr val="e53935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CustomShape 33"/>
          <p:cNvSpPr/>
          <p:nvPr/>
        </p:nvSpPr>
        <p:spPr>
          <a:xfrm>
            <a:off x="3529440" y="2834640"/>
            <a:ext cx="292320" cy="292320"/>
          </a:xfrm>
          <a:prstGeom prst="ellipse">
            <a:avLst/>
          </a:prstGeom>
          <a:solidFill>
            <a:srgbClr val="e53935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CustomShape 34"/>
          <p:cNvSpPr/>
          <p:nvPr/>
        </p:nvSpPr>
        <p:spPr>
          <a:xfrm>
            <a:off x="3529440" y="283464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75" name="CustomShape 35"/>
          <p:cNvSpPr/>
          <p:nvPr/>
        </p:nvSpPr>
        <p:spPr>
          <a:xfrm>
            <a:off x="3886200" y="2834640"/>
            <a:ext cx="2084400" cy="30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53935"/>
                </a:solidFill>
                <a:latin typeface="Arial"/>
                <a:ea typeface="Arial"/>
              </a:rPr>
              <a:t>Layered System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76" name="CustomShape 36"/>
          <p:cNvSpPr/>
          <p:nvPr/>
        </p:nvSpPr>
        <p:spPr>
          <a:xfrm>
            <a:off x="3886200" y="3136320"/>
            <a:ext cx="208440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55555"/>
                </a:solidFill>
                <a:latin typeface="Arial"/>
                <a:ea typeface="Arial"/>
              </a:rPr>
              <a:t>Клиент не знает, с кем говорит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7" name="CustomShape 37"/>
          <p:cNvSpPr/>
          <p:nvPr/>
        </p:nvSpPr>
        <p:spPr>
          <a:xfrm>
            <a:off x="3529440" y="3346560"/>
            <a:ext cx="2441160" cy="104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33333"/>
                </a:solidFill>
                <a:latin typeface="Arial"/>
                <a:ea typeface="Arial"/>
              </a:rPr>
              <a:t>За одним URL может быть Nginx, балансировщик, API Gateway, микросервисы — клиенту всё равно.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78" name="CustomShape 38"/>
          <p:cNvSpPr/>
          <p:nvPr/>
        </p:nvSpPr>
        <p:spPr>
          <a:xfrm>
            <a:off x="6226920" y="2743200"/>
            <a:ext cx="2651400" cy="1737000"/>
          </a:xfrm>
          <a:prstGeom prst="roundRect">
            <a:avLst>
              <a:gd name="adj" fmla="val 4211"/>
            </a:avLst>
          </a:prstGeom>
          <a:solidFill>
            <a:srgbClr val="e0f7fa"/>
          </a:solidFill>
          <a:ln w="6480">
            <a:solidFill>
              <a:srgbClr val="00838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CustomShape 39"/>
          <p:cNvSpPr/>
          <p:nvPr/>
        </p:nvSpPr>
        <p:spPr>
          <a:xfrm>
            <a:off x="6226920" y="2743200"/>
            <a:ext cx="63720" cy="1737000"/>
          </a:xfrm>
          <a:prstGeom prst="rect">
            <a:avLst/>
          </a:prstGeom>
          <a:solidFill>
            <a:srgbClr val="00838f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CustomShape 40"/>
          <p:cNvSpPr/>
          <p:nvPr/>
        </p:nvSpPr>
        <p:spPr>
          <a:xfrm>
            <a:off x="6346080" y="2834640"/>
            <a:ext cx="292320" cy="292320"/>
          </a:xfrm>
          <a:prstGeom prst="ellipse">
            <a:avLst/>
          </a:prstGeom>
          <a:solidFill>
            <a:srgbClr val="00838f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CustomShape 41"/>
          <p:cNvSpPr/>
          <p:nvPr/>
        </p:nvSpPr>
        <p:spPr>
          <a:xfrm>
            <a:off x="6346080" y="283464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2" name="CustomShape 42"/>
          <p:cNvSpPr/>
          <p:nvPr/>
        </p:nvSpPr>
        <p:spPr>
          <a:xfrm>
            <a:off x="6702480" y="2834640"/>
            <a:ext cx="2084400" cy="30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838f"/>
                </a:solidFill>
                <a:latin typeface="Arial"/>
                <a:ea typeface="Arial"/>
              </a:rPr>
              <a:t>Code on Demand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3" name="CustomShape 43"/>
          <p:cNvSpPr/>
          <p:nvPr/>
        </p:nvSpPr>
        <p:spPr>
          <a:xfrm>
            <a:off x="6702480" y="3136320"/>
            <a:ext cx="208440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555555"/>
                </a:solidFill>
                <a:latin typeface="Arial"/>
                <a:ea typeface="Arial"/>
              </a:rPr>
              <a:t>Опциональное правило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84" name="CustomShape 44"/>
          <p:cNvSpPr/>
          <p:nvPr/>
        </p:nvSpPr>
        <p:spPr>
          <a:xfrm>
            <a:off x="6346080" y="3346560"/>
            <a:ext cx="2441160" cy="104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33333"/>
                </a:solidFill>
                <a:latin typeface="Arial"/>
                <a:ea typeface="Arial"/>
              </a:rPr>
              <a:t>Сервер может вернуть исполняемый код (JS-скрипт). В современном REST используется крайне редко.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285" name="CustomShape 45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86" name="Google Shape;299;p34_5" descr=""/>
          <p:cNvPicPr/>
          <p:nvPr/>
        </p:nvPicPr>
        <p:blipFill>
          <a:blip r:embed="rId1"/>
          <a:stretch/>
        </p:blipFill>
        <p:spPr>
          <a:xfrm>
            <a:off x="8440920" y="4181040"/>
            <a:ext cx="351000" cy="527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ustomShape 1"/>
          <p:cNvSpPr/>
          <p:nvPr/>
        </p:nvSpPr>
        <p:spPr>
          <a:xfrm>
            <a:off x="548640" y="1371600"/>
            <a:ext cx="804636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bbdefb"/>
                </a:solidFill>
                <a:latin typeface="Arial"/>
                <a:ea typeface="Arial"/>
              </a:rPr>
              <a:t>Блок 2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88" name="CustomShape 2"/>
          <p:cNvSpPr/>
          <p:nvPr/>
        </p:nvSpPr>
        <p:spPr>
          <a:xfrm>
            <a:off x="548640" y="1920240"/>
            <a:ext cx="8046360" cy="12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a1a2e"/>
                </a:solidFill>
                <a:latin typeface="Arial"/>
                <a:ea typeface="Arial"/>
              </a:rPr>
              <a:t>Ресурсы и URL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89" name="CustomShape 3"/>
          <p:cNvSpPr/>
          <p:nvPr/>
        </p:nvSpPr>
        <p:spPr>
          <a:xfrm>
            <a:off x="548640" y="3383280"/>
            <a:ext cx="1645560" cy="347040"/>
          </a:xfrm>
          <a:prstGeom prst="rect">
            <a:avLst/>
          </a:prstGeom>
          <a:solidFill>
            <a:srgbClr val="ffffff">
              <a:alpha val="20000"/>
            </a:srgbClr>
          </a:solidFill>
          <a:ln w="126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CustomShape 4"/>
          <p:cNvSpPr/>
          <p:nvPr/>
        </p:nvSpPr>
        <p:spPr>
          <a:xfrm>
            <a:off x="548640" y="3401640"/>
            <a:ext cx="164556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⏱  </a:t>
            </a: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15 минут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91" name="CustomShape 5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432000" y="0"/>
            <a:ext cx="850356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Блок 2 — Ресурсы и URL: существительное, не глагол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93" name="CustomShape 2"/>
          <p:cNvSpPr/>
          <p:nvPr/>
        </p:nvSpPr>
        <p:spPr>
          <a:xfrm>
            <a:off x="365760" y="777240"/>
            <a:ext cx="411444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62828"/>
                </a:solidFill>
                <a:latin typeface="Arial"/>
                <a:ea typeface="Arial"/>
              </a:rPr>
              <a:t>❌ </a:t>
            </a:r>
            <a:r>
              <a:rPr b="1" lang="en-US" sz="1500" spc="-1" strike="noStrike">
                <a:solidFill>
                  <a:srgbClr val="c62828"/>
                </a:solidFill>
                <a:latin typeface="Arial"/>
                <a:ea typeface="Arial"/>
              </a:rPr>
              <a:t>Плохо — глагольные URL: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94" name="CustomShape 3"/>
          <p:cNvSpPr/>
          <p:nvPr/>
        </p:nvSpPr>
        <p:spPr>
          <a:xfrm>
            <a:off x="365760" y="1170360"/>
            <a:ext cx="4114440" cy="1005480"/>
          </a:xfrm>
          <a:prstGeom prst="rect">
            <a:avLst/>
          </a:prstGeom>
          <a:solidFill>
            <a:srgbClr val="f3f3f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CustomShape 4"/>
          <p:cNvSpPr/>
          <p:nvPr/>
        </p:nvSpPr>
        <p:spPr>
          <a:xfrm>
            <a:off x="502920" y="1216080"/>
            <a:ext cx="38858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POST /getUser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POST /createNewUser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POST /deleteUserById?id=42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POST /getUserOrders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6" name="CustomShape 5"/>
          <p:cNvSpPr/>
          <p:nvPr/>
        </p:nvSpPr>
        <p:spPr>
          <a:xfrm>
            <a:off x="4663440" y="777240"/>
            <a:ext cx="411444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e7d32"/>
                </a:solidFill>
                <a:latin typeface="Arial"/>
                <a:ea typeface="Arial"/>
              </a:rPr>
              <a:t>✅ </a:t>
            </a:r>
            <a:r>
              <a:rPr b="1" lang="en-US" sz="1500" spc="-1" strike="noStrike">
                <a:solidFill>
                  <a:srgbClr val="2e7d32"/>
                </a:solidFill>
                <a:latin typeface="Arial"/>
                <a:ea typeface="Arial"/>
              </a:rPr>
              <a:t>Правильно — ресурсы: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97" name="CustomShape 6"/>
          <p:cNvSpPr/>
          <p:nvPr/>
        </p:nvSpPr>
        <p:spPr>
          <a:xfrm>
            <a:off x="4663440" y="1170360"/>
            <a:ext cx="4114440" cy="1005480"/>
          </a:xfrm>
          <a:prstGeom prst="rect">
            <a:avLst/>
          </a:prstGeom>
          <a:solidFill>
            <a:srgbClr val="f3f3f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CustomShape 7"/>
          <p:cNvSpPr/>
          <p:nvPr/>
        </p:nvSpPr>
        <p:spPr>
          <a:xfrm>
            <a:off x="4800600" y="1216080"/>
            <a:ext cx="38858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GET    /users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POST   /users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GET    /users/42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DELETE /users/42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9" name="CustomShape 8"/>
          <p:cNvSpPr/>
          <p:nvPr/>
        </p:nvSpPr>
        <p:spPr>
          <a:xfrm>
            <a:off x="365760" y="2331720"/>
            <a:ext cx="84121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1a2e"/>
                </a:solidFill>
                <a:latin typeface="Arial"/>
                <a:ea typeface="Arial"/>
              </a:rPr>
              <a:t>Правила именования: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00" name="CustomShape 9"/>
          <p:cNvSpPr/>
          <p:nvPr/>
        </p:nvSpPr>
        <p:spPr>
          <a:xfrm>
            <a:off x="365760" y="2724840"/>
            <a:ext cx="8412120" cy="109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2720">
              <a:lnSpc>
                <a:spcPct val="100000"/>
              </a:lnSpc>
              <a:spcAft>
                <a:spcPts val="601"/>
              </a:spcAft>
              <a:buClr>
                <a:srgbClr val="1a1a2e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Существительные во множественном числе: /users, /orders, /products</a:t>
            </a:r>
            <a:endParaRPr b="0" lang="en-US" sz="1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spcAft>
                <a:spcPts val="601"/>
              </a:spcAft>
              <a:buClr>
                <a:srgbClr val="1a1a2e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Нижний регистр, через дефис: /user-profiles (не /userProfiles)</a:t>
            </a:r>
            <a:endParaRPr b="0" lang="en-US" sz="14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spcAft>
                <a:spcPts val="601"/>
              </a:spcAft>
              <a:buClr>
                <a:srgbClr val="1a1a2e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Никаких глаголов в URL: не /getUser, не /createOrder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01" name="CustomShape 10"/>
          <p:cNvSpPr/>
          <p:nvPr/>
        </p:nvSpPr>
        <p:spPr>
          <a:xfrm>
            <a:off x="365760" y="3886200"/>
            <a:ext cx="411444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Вложенность: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02" name="CustomShape 11"/>
          <p:cNvSpPr/>
          <p:nvPr/>
        </p:nvSpPr>
        <p:spPr>
          <a:xfrm>
            <a:off x="365760" y="4224600"/>
            <a:ext cx="4205880" cy="685440"/>
          </a:xfrm>
          <a:prstGeom prst="rect">
            <a:avLst/>
          </a:prstGeom>
          <a:solidFill>
            <a:srgbClr val="f3f3f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CustomShape 12"/>
          <p:cNvSpPr/>
          <p:nvPr/>
        </p:nvSpPr>
        <p:spPr>
          <a:xfrm>
            <a:off x="502920" y="4270320"/>
            <a:ext cx="3977280" cy="59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GET /users/42/orders     — заказы пользователя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GET /users/42/orders/7   — конкретный заказ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4" name="CustomShape 13"/>
          <p:cNvSpPr/>
          <p:nvPr/>
        </p:nvSpPr>
        <p:spPr>
          <a:xfrm>
            <a:off x="4754880" y="3886200"/>
            <a:ext cx="4023000" cy="1023840"/>
          </a:xfrm>
          <a:prstGeom prst="rect">
            <a:avLst/>
          </a:prstGeom>
          <a:solidFill>
            <a:srgbClr val="fff3e0"/>
          </a:solidFill>
          <a:ln w="12600">
            <a:solidFill>
              <a:srgbClr val="fff3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CustomShape 14"/>
          <p:cNvSpPr/>
          <p:nvPr/>
        </p:nvSpPr>
        <p:spPr>
          <a:xfrm>
            <a:off x="4864680" y="3886200"/>
            <a:ext cx="3885840" cy="1023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65100"/>
                </a:solidFill>
                <a:latin typeface="Arial"/>
                <a:ea typeface="Arial"/>
              </a:rPr>
              <a:t>⚠️ </a:t>
            </a:r>
            <a:r>
              <a:rPr b="0" lang="en-US" sz="1300" spc="-1" strike="noStrike">
                <a:solidFill>
                  <a:srgbClr val="e65100"/>
                </a:solidFill>
                <a:latin typeface="Arial"/>
                <a:ea typeface="Arial"/>
              </a:rPr>
              <a:t>Не уходи глубже 2 уровней вложенности — становится больно читать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06" name="CustomShape 15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07" name="Google Shape;299;p34_14" descr=""/>
          <p:cNvPicPr/>
          <p:nvPr/>
        </p:nvPicPr>
        <p:blipFill>
          <a:blip r:embed="rId1"/>
          <a:stretch/>
        </p:blipFill>
        <p:spPr>
          <a:xfrm>
            <a:off x="8440560" y="4181040"/>
            <a:ext cx="351000" cy="527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CustomShape 1"/>
          <p:cNvSpPr/>
          <p:nvPr/>
        </p:nvSpPr>
        <p:spPr>
          <a:xfrm>
            <a:off x="432000" y="0"/>
            <a:ext cx="850356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Блок 2 — Path vs Query параметры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09" name="CustomShape 2"/>
          <p:cNvSpPr/>
          <p:nvPr/>
        </p:nvSpPr>
        <p:spPr>
          <a:xfrm>
            <a:off x="365760" y="804600"/>
            <a:ext cx="8412120" cy="36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2e"/>
                </a:solidFill>
                <a:latin typeface="Arial"/>
                <a:ea typeface="Arial"/>
              </a:rPr>
              <a:t>Path параметр — конкретный ресурс по ID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10" name="CustomShape 3"/>
          <p:cNvSpPr/>
          <p:nvPr/>
        </p:nvSpPr>
        <p:spPr>
          <a:xfrm>
            <a:off x="365760" y="1207080"/>
            <a:ext cx="8412120" cy="456840"/>
          </a:xfrm>
          <a:prstGeom prst="rect">
            <a:avLst/>
          </a:prstGeom>
          <a:solidFill>
            <a:srgbClr val="f3f3f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CustomShape 4"/>
          <p:cNvSpPr/>
          <p:nvPr/>
        </p:nvSpPr>
        <p:spPr>
          <a:xfrm>
            <a:off x="502920" y="1252800"/>
            <a:ext cx="8183520" cy="36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GET /users/42          — конкретный пользователь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2" name="CustomShape 5"/>
          <p:cNvSpPr/>
          <p:nvPr/>
        </p:nvSpPr>
        <p:spPr>
          <a:xfrm>
            <a:off x="365760" y="1874520"/>
            <a:ext cx="8412120" cy="36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a2e"/>
                </a:solidFill>
                <a:latin typeface="Arial"/>
                <a:ea typeface="Arial"/>
              </a:rPr>
              <a:t>Query параметр — фильтрация, сортировка, пагинация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13" name="CustomShape 6"/>
          <p:cNvSpPr/>
          <p:nvPr/>
        </p:nvSpPr>
        <p:spPr>
          <a:xfrm>
            <a:off x="365760" y="2286000"/>
            <a:ext cx="8412120" cy="685440"/>
          </a:xfrm>
          <a:prstGeom prst="rect">
            <a:avLst/>
          </a:prstGeom>
          <a:solidFill>
            <a:srgbClr val="f3f3f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CustomShape 7"/>
          <p:cNvSpPr/>
          <p:nvPr/>
        </p:nvSpPr>
        <p:spPr>
          <a:xfrm>
            <a:off x="502920" y="2331720"/>
            <a:ext cx="8183520" cy="59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GET /users?role=admin&amp;active=true   — фильтрация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GET /products?page=2&amp;limit=20      — пагинация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5" name="CustomShape 8"/>
          <p:cNvSpPr/>
          <p:nvPr/>
        </p:nvSpPr>
        <p:spPr>
          <a:xfrm>
            <a:off x="365760" y="3200400"/>
            <a:ext cx="84121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1a2e"/>
                </a:solidFill>
                <a:latin typeface="Arial"/>
                <a:ea typeface="Arial"/>
              </a:rPr>
              <a:t>Примеры: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16" name="CustomShape 9"/>
          <p:cNvSpPr/>
          <p:nvPr/>
        </p:nvSpPr>
        <p:spPr>
          <a:xfrm>
            <a:off x="365760" y="3611880"/>
            <a:ext cx="4114440" cy="475200"/>
          </a:xfrm>
          <a:prstGeom prst="rect">
            <a:avLst/>
          </a:prstGeom>
          <a:solidFill>
            <a:srgbClr val="e8f5e9"/>
          </a:solidFill>
          <a:ln w="126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CustomShape 10"/>
          <p:cNvSpPr/>
          <p:nvPr/>
        </p:nvSpPr>
        <p:spPr>
          <a:xfrm>
            <a:off x="457200" y="3611880"/>
            <a:ext cx="39315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Courier New"/>
                <a:ea typeface="Courier New"/>
              </a:rPr>
              <a:t>✅  </a:t>
            </a:r>
            <a:r>
              <a:rPr b="0" lang="en-US" sz="1300" spc="-1" strike="noStrike">
                <a:solidFill>
                  <a:srgbClr val="1a1a2e"/>
                </a:solidFill>
                <a:latin typeface="Courier New"/>
                <a:ea typeface="Courier New"/>
              </a:rPr>
              <a:t>GET /users/42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18" name="CustomShape 11"/>
          <p:cNvSpPr/>
          <p:nvPr/>
        </p:nvSpPr>
        <p:spPr>
          <a:xfrm>
            <a:off x="4754880" y="3611880"/>
            <a:ext cx="4114440" cy="475200"/>
          </a:xfrm>
          <a:prstGeom prst="rect">
            <a:avLst/>
          </a:prstGeom>
          <a:solidFill>
            <a:srgbClr val="ffebee"/>
          </a:solidFill>
          <a:ln w="126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CustomShape 12"/>
          <p:cNvSpPr/>
          <p:nvPr/>
        </p:nvSpPr>
        <p:spPr>
          <a:xfrm>
            <a:off x="4846320" y="3611880"/>
            <a:ext cx="39315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Courier New"/>
                <a:ea typeface="Courier New"/>
              </a:rPr>
              <a:t>❌  </a:t>
            </a:r>
            <a:r>
              <a:rPr b="0" lang="en-US" sz="1300" spc="-1" strike="noStrike">
                <a:solidFill>
                  <a:srgbClr val="1a1a2e"/>
                </a:solidFill>
                <a:latin typeface="Courier New"/>
                <a:ea typeface="Courier New"/>
              </a:rPr>
              <a:t>GET /users?id=42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20" name="CustomShape 13"/>
          <p:cNvSpPr/>
          <p:nvPr/>
        </p:nvSpPr>
        <p:spPr>
          <a:xfrm>
            <a:off x="365760" y="4206240"/>
            <a:ext cx="4114440" cy="475200"/>
          </a:xfrm>
          <a:prstGeom prst="rect">
            <a:avLst/>
          </a:prstGeom>
          <a:solidFill>
            <a:srgbClr val="e8f5e9"/>
          </a:solidFill>
          <a:ln w="126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CustomShape 14"/>
          <p:cNvSpPr/>
          <p:nvPr/>
        </p:nvSpPr>
        <p:spPr>
          <a:xfrm>
            <a:off x="457200" y="4206240"/>
            <a:ext cx="39315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Courier New"/>
                <a:ea typeface="Courier New"/>
              </a:rPr>
              <a:t>✅  </a:t>
            </a:r>
            <a:r>
              <a:rPr b="0" lang="en-US" sz="1300" spc="-1" strike="noStrike">
                <a:solidFill>
                  <a:srgbClr val="1a1a2e"/>
                </a:solidFill>
                <a:latin typeface="Courier New"/>
                <a:ea typeface="Courier New"/>
              </a:rPr>
              <a:t>GET /users?role=admin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22" name="CustomShape 15"/>
          <p:cNvSpPr/>
          <p:nvPr/>
        </p:nvSpPr>
        <p:spPr>
          <a:xfrm>
            <a:off x="4754880" y="4206240"/>
            <a:ext cx="4114440" cy="475200"/>
          </a:xfrm>
          <a:prstGeom prst="rect">
            <a:avLst/>
          </a:prstGeom>
          <a:solidFill>
            <a:srgbClr val="e8f5e9"/>
          </a:solidFill>
          <a:ln w="126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CustomShape 16"/>
          <p:cNvSpPr/>
          <p:nvPr/>
        </p:nvSpPr>
        <p:spPr>
          <a:xfrm>
            <a:off x="4846320" y="4206240"/>
            <a:ext cx="39315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Courier New"/>
                <a:ea typeface="Courier New"/>
              </a:rPr>
              <a:t>✅  </a:t>
            </a:r>
            <a:r>
              <a:rPr b="0" lang="en-US" sz="1300" spc="-1" strike="noStrike">
                <a:solidFill>
                  <a:srgbClr val="1a1a2e"/>
                </a:solidFill>
                <a:latin typeface="Courier New"/>
                <a:ea typeface="Courier New"/>
              </a:rPr>
              <a:t>GET /products?page=2&amp;limit=20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24" name="CustomShape 17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25" name="Google Shape;299;p34_6" descr=""/>
          <p:cNvPicPr/>
          <p:nvPr/>
        </p:nvPicPr>
        <p:blipFill>
          <a:blip r:embed="rId1"/>
          <a:stretch/>
        </p:blipFill>
        <p:spPr>
          <a:xfrm>
            <a:off x="8440560" y="4181040"/>
            <a:ext cx="351000" cy="527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548640" y="1371600"/>
            <a:ext cx="804636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bbdefb"/>
                </a:solidFill>
                <a:latin typeface="Arial"/>
                <a:ea typeface="Arial"/>
              </a:rPr>
              <a:t>Блок 3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27" name="CustomShape 2"/>
          <p:cNvSpPr/>
          <p:nvPr/>
        </p:nvSpPr>
        <p:spPr>
          <a:xfrm>
            <a:off x="548640" y="1920240"/>
            <a:ext cx="8046360" cy="12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a1a2e"/>
                </a:solidFill>
                <a:latin typeface="Arial"/>
                <a:ea typeface="Arial"/>
              </a:rPr>
              <a:t>HTTP методы и статус-коды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548640" y="3383280"/>
            <a:ext cx="1645560" cy="347040"/>
          </a:xfrm>
          <a:prstGeom prst="rect">
            <a:avLst/>
          </a:prstGeom>
          <a:solidFill>
            <a:srgbClr val="ffffff">
              <a:alpha val="20000"/>
            </a:srgbClr>
          </a:solidFill>
          <a:ln w="126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CustomShape 4"/>
          <p:cNvSpPr/>
          <p:nvPr/>
        </p:nvSpPr>
        <p:spPr>
          <a:xfrm>
            <a:off x="548640" y="3401640"/>
            <a:ext cx="164556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⏱  </a:t>
            </a: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15 минут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CustomShape 1"/>
          <p:cNvSpPr/>
          <p:nvPr/>
        </p:nvSpPr>
        <p:spPr>
          <a:xfrm>
            <a:off x="473760" y="0"/>
            <a:ext cx="850356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Блок 3 — HTTP методы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32" name="CustomShape 2"/>
          <p:cNvSpPr/>
          <p:nvPr/>
        </p:nvSpPr>
        <p:spPr>
          <a:xfrm>
            <a:off x="457200" y="804600"/>
            <a:ext cx="1279800" cy="34704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CustomShape 3"/>
          <p:cNvSpPr/>
          <p:nvPr/>
        </p:nvSpPr>
        <p:spPr>
          <a:xfrm>
            <a:off x="502920" y="804600"/>
            <a:ext cx="12067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Метод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4" name="CustomShape 4"/>
          <p:cNvSpPr/>
          <p:nvPr/>
        </p:nvSpPr>
        <p:spPr>
          <a:xfrm>
            <a:off x="1828800" y="804600"/>
            <a:ext cx="2834280" cy="34704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CustomShape 5"/>
          <p:cNvSpPr/>
          <p:nvPr/>
        </p:nvSpPr>
        <p:spPr>
          <a:xfrm>
            <a:off x="1874520" y="804600"/>
            <a:ext cx="27612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Действие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6" name="CustomShape 6"/>
          <p:cNvSpPr/>
          <p:nvPr/>
        </p:nvSpPr>
        <p:spPr>
          <a:xfrm>
            <a:off x="4754880" y="804600"/>
            <a:ext cx="1554120" cy="34704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CustomShape 7"/>
          <p:cNvSpPr/>
          <p:nvPr/>
        </p:nvSpPr>
        <p:spPr>
          <a:xfrm>
            <a:off x="4800600" y="804600"/>
            <a:ext cx="148104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Тело запроса?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38" name="CustomShape 8"/>
          <p:cNvSpPr/>
          <p:nvPr/>
        </p:nvSpPr>
        <p:spPr>
          <a:xfrm>
            <a:off x="6400800" y="804600"/>
            <a:ext cx="1279800" cy="34704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CustomShape 9"/>
          <p:cNvSpPr/>
          <p:nvPr/>
        </p:nvSpPr>
        <p:spPr>
          <a:xfrm>
            <a:off x="6446520" y="804600"/>
            <a:ext cx="12067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Идемпотентный?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0" name="CustomShape 10"/>
          <p:cNvSpPr/>
          <p:nvPr/>
        </p:nvSpPr>
        <p:spPr>
          <a:xfrm>
            <a:off x="457200" y="1216080"/>
            <a:ext cx="1279800" cy="347040"/>
          </a:xfrm>
          <a:prstGeom prst="rect">
            <a:avLst/>
          </a:prstGeom>
          <a:solidFill>
            <a:srgbClr val="f0f4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CustomShape 11"/>
          <p:cNvSpPr/>
          <p:nvPr/>
        </p:nvSpPr>
        <p:spPr>
          <a:xfrm>
            <a:off x="502920" y="1216080"/>
            <a:ext cx="12067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ourier New"/>
                <a:ea typeface="Courier New"/>
              </a:rPr>
              <a:t>GET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2" name="CustomShape 12"/>
          <p:cNvSpPr/>
          <p:nvPr/>
        </p:nvSpPr>
        <p:spPr>
          <a:xfrm>
            <a:off x="1828800" y="1216080"/>
            <a:ext cx="283428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CustomShape 13"/>
          <p:cNvSpPr/>
          <p:nvPr/>
        </p:nvSpPr>
        <p:spPr>
          <a:xfrm>
            <a:off x="1874520" y="1216080"/>
            <a:ext cx="27612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Получить данные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4" name="CustomShape 14"/>
          <p:cNvSpPr/>
          <p:nvPr/>
        </p:nvSpPr>
        <p:spPr>
          <a:xfrm>
            <a:off x="4754880" y="1216080"/>
            <a:ext cx="155412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CustomShape 15"/>
          <p:cNvSpPr/>
          <p:nvPr/>
        </p:nvSpPr>
        <p:spPr>
          <a:xfrm>
            <a:off x="4800600" y="1216080"/>
            <a:ext cx="148104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Нет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6" name="CustomShape 16"/>
          <p:cNvSpPr/>
          <p:nvPr/>
        </p:nvSpPr>
        <p:spPr>
          <a:xfrm>
            <a:off x="6400800" y="1216080"/>
            <a:ext cx="127980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CustomShape 17"/>
          <p:cNvSpPr/>
          <p:nvPr/>
        </p:nvSpPr>
        <p:spPr>
          <a:xfrm>
            <a:off x="6446520" y="1216080"/>
            <a:ext cx="12067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✅ </a:t>
            </a: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Да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8" name="CustomShape 18"/>
          <p:cNvSpPr/>
          <p:nvPr/>
        </p:nvSpPr>
        <p:spPr>
          <a:xfrm>
            <a:off x="457200" y="1627560"/>
            <a:ext cx="1279800" cy="347040"/>
          </a:xfrm>
          <a:prstGeom prst="rect">
            <a:avLst/>
          </a:prstGeom>
          <a:solidFill>
            <a:srgbClr val="f0f4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CustomShape 19"/>
          <p:cNvSpPr/>
          <p:nvPr/>
        </p:nvSpPr>
        <p:spPr>
          <a:xfrm>
            <a:off x="502920" y="1627560"/>
            <a:ext cx="12067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ourier New"/>
                <a:ea typeface="Courier New"/>
              </a:rPr>
              <a:t>POST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50" name="CustomShape 20"/>
          <p:cNvSpPr/>
          <p:nvPr/>
        </p:nvSpPr>
        <p:spPr>
          <a:xfrm>
            <a:off x="1828800" y="1627560"/>
            <a:ext cx="283428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CustomShape 21"/>
          <p:cNvSpPr/>
          <p:nvPr/>
        </p:nvSpPr>
        <p:spPr>
          <a:xfrm>
            <a:off x="1874520" y="1627560"/>
            <a:ext cx="27612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Создать ресурс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52" name="CustomShape 22"/>
          <p:cNvSpPr/>
          <p:nvPr/>
        </p:nvSpPr>
        <p:spPr>
          <a:xfrm>
            <a:off x="4754880" y="1627560"/>
            <a:ext cx="155412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CustomShape 23"/>
          <p:cNvSpPr/>
          <p:nvPr/>
        </p:nvSpPr>
        <p:spPr>
          <a:xfrm>
            <a:off x="4800600" y="1627560"/>
            <a:ext cx="148104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Да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54" name="CustomShape 24"/>
          <p:cNvSpPr/>
          <p:nvPr/>
        </p:nvSpPr>
        <p:spPr>
          <a:xfrm>
            <a:off x="6400800" y="1627560"/>
            <a:ext cx="127980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CustomShape 25"/>
          <p:cNvSpPr/>
          <p:nvPr/>
        </p:nvSpPr>
        <p:spPr>
          <a:xfrm>
            <a:off x="6446520" y="1627560"/>
            <a:ext cx="12067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❌ </a:t>
            </a: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Нет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56" name="CustomShape 26"/>
          <p:cNvSpPr/>
          <p:nvPr/>
        </p:nvSpPr>
        <p:spPr>
          <a:xfrm>
            <a:off x="457200" y="2039040"/>
            <a:ext cx="1279800" cy="347040"/>
          </a:xfrm>
          <a:prstGeom prst="rect">
            <a:avLst/>
          </a:prstGeom>
          <a:solidFill>
            <a:srgbClr val="f0f4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CustomShape 27"/>
          <p:cNvSpPr/>
          <p:nvPr/>
        </p:nvSpPr>
        <p:spPr>
          <a:xfrm>
            <a:off x="502920" y="2039040"/>
            <a:ext cx="12067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ourier New"/>
                <a:ea typeface="Courier New"/>
              </a:rPr>
              <a:t>PUT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58" name="CustomShape 28"/>
          <p:cNvSpPr/>
          <p:nvPr/>
        </p:nvSpPr>
        <p:spPr>
          <a:xfrm>
            <a:off x="1828800" y="2039040"/>
            <a:ext cx="283428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CustomShape 29"/>
          <p:cNvSpPr/>
          <p:nvPr/>
        </p:nvSpPr>
        <p:spPr>
          <a:xfrm>
            <a:off x="1874520" y="2039040"/>
            <a:ext cx="27612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Заменить целиком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60" name="CustomShape 30"/>
          <p:cNvSpPr/>
          <p:nvPr/>
        </p:nvSpPr>
        <p:spPr>
          <a:xfrm>
            <a:off x="4754880" y="2039040"/>
            <a:ext cx="155412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CustomShape 31"/>
          <p:cNvSpPr/>
          <p:nvPr/>
        </p:nvSpPr>
        <p:spPr>
          <a:xfrm>
            <a:off x="4800600" y="2039040"/>
            <a:ext cx="148104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Да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62" name="CustomShape 32"/>
          <p:cNvSpPr/>
          <p:nvPr/>
        </p:nvSpPr>
        <p:spPr>
          <a:xfrm>
            <a:off x="6400800" y="2039040"/>
            <a:ext cx="127980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CustomShape 33"/>
          <p:cNvSpPr/>
          <p:nvPr/>
        </p:nvSpPr>
        <p:spPr>
          <a:xfrm>
            <a:off x="6446520" y="2039040"/>
            <a:ext cx="12067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✅ </a:t>
            </a: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Да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64" name="CustomShape 34"/>
          <p:cNvSpPr/>
          <p:nvPr/>
        </p:nvSpPr>
        <p:spPr>
          <a:xfrm>
            <a:off x="457200" y="2450520"/>
            <a:ext cx="1279800" cy="347040"/>
          </a:xfrm>
          <a:prstGeom prst="rect">
            <a:avLst/>
          </a:prstGeom>
          <a:solidFill>
            <a:srgbClr val="f0f4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CustomShape 35"/>
          <p:cNvSpPr/>
          <p:nvPr/>
        </p:nvSpPr>
        <p:spPr>
          <a:xfrm>
            <a:off x="502920" y="2450520"/>
            <a:ext cx="12067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ourier New"/>
                <a:ea typeface="Courier New"/>
              </a:rPr>
              <a:t>PATCH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66" name="CustomShape 36"/>
          <p:cNvSpPr/>
          <p:nvPr/>
        </p:nvSpPr>
        <p:spPr>
          <a:xfrm>
            <a:off x="1828800" y="2450520"/>
            <a:ext cx="283428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CustomShape 37"/>
          <p:cNvSpPr/>
          <p:nvPr/>
        </p:nvSpPr>
        <p:spPr>
          <a:xfrm>
            <a:off x="1874520" y="2450520"/>
            <a:ext cx="27612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Изменить часть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68" name="CustomShape 38"/>
          <p:cNvSpPr/>
          <p:nvPr/>
        </p:nvSpPr>
        <p:spPr>
          <a:xfrm>
            <a:off x="4754880" y="2450520"/>
            <a:ext cx="155412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CustomShape 39"/>
          <p:cNvSpPr/>
          <p:nvPr/>
        </p:nvSpPr>
        <p:spPr>
          <a:xfrm>
            <a:off x="4800600" y="2450520"/>
            <a:ext cx="148104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Да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0" name="CustomShape 40"/>
          <p:cNvSpPr/>
          <p:nvPr/>
        </p:nvSpPr>
        <p:spPr>
          <a:xfrm>
            <a:off x="6400800" y="2450520"/>
            <a:ext cx="127980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CustomShape 41"/>
          <p:cNvSpPr/>
          <p:nvPr/>
        </p:nvSpPr>
        <p:spPr>
          <a:xfrm>
            <a:off x="6446520" y="2450520"/>
            <a:ext cx="12067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⚠️ </a:t>
            </a: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Зависит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2" name="CustomShape 42"/>
          <p:cNvSpPr/>
          <p:nvPr/>
        </p:nvSpPr>
        <p:spPr>
          <a:xfrm>
            <a:off x="457200" y="2862000"/>
            <a:ext cx="1279800" cy="347040"/>
          </a:xfrm>
          <a:prstGeom prst="rect">
            <a:avLst/>
          </a:prstGeom>
          <a:solidFill>
            <a:srgbClr val="f0f4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CustomShape 43"/>
          <p:cNvSpPr/>
          <p:nvPr/>
        </p:nvSpPr>
        <p:spPr>
          <a:xfrm>
            <a:off x="502920" y="2862000"/>
            <a:ext cx="12067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ourier New"/>
                <a:ea typeface="Courier New"/>
              </a:rPr>
              <a:t>DELETE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4" name="CustomShape 44"/>
          <p:cNvSpPr/>
          <p:nvPr/>
        </p:nvSpPr>
        <p:spPr>
          <a:xfrm>
            <a:off x="1828800" y="2862000"/>
            <a:ext cx="283428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CustomShape 45"/>
          <p:cNvSpPr/>
          <p:nvPr/>
        </p:nvSpPr>
        <p:spPr>
          <a:xfrm>
            <a:off x="1874520" y="2862000"/>
            <a:ext cx="27612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Удалить ресурс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6" name="CustomShape 46"/>
          <p:cNvSpPr/>
          <p:nvPr/>
        </p:nvSpPr>
        <p:spPr>
          <a:xfrm>
            <a:off x="4754880" y="2862000"/>
            <a:ext cx="155412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CustomShape 47"/>
          <p:cNvSpPr/>
          <p:nvPr/>
        </p:nvSpPr>
        <p:spPr>
          <a:xfrm>
            <a:off x="4800600" y="2862000"/>
            <a:ext cx="148104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Нет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8" name="CustomShape 48"/>
          <p:cNvSpPr/>
          <p:nvPr/>
        </p:nvSpPr>
        <p:spPr>
          <a:xfrm>
            <a:off x="6400800" y="2862000"/>
            <a:ext cx="1279800" cy="3470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CustomShape 49"/>
          <p:cNvSpPr/>
          <p:nvPr/>
        </p:nvSpPr>
        <p:spPr>
          <a:xfrm>
            <a:off x="6446520" y="2862000"/>
            <a:ext cx="12067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✅ </a:t>
            </a: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Да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0" name="CustomShape 50"/>
          <p:cNvSpPr/>
          <p:nvPr/>
        </p:nvSpPr>
        <p:spPr>
          <a:xfrm>
            <a:off x="365760" y="3383280"/>
            <a:ext cx="84121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1a2e"/>
                </a:solidFill>
                <a:latin typeface="Arial"/>
                <a:ea typeface="Arial"/>
              </a:rPr>
              <a:t>Идемпотентность — что это?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81" name="CustomShape 51"/>
          <p:cNvSpPr/>
          <p:nvPr/>
        </p:nvSpPr>
        <p:spPr>
          <a:xfrm>
            <a:off x="365760" y="3749040"/>
            <a:ext cx="502884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Идемпотентный запрос можно повторить любое количество раз с одним и тем же результатом.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382" name="CustomShape 52"/>
          <p:cNvSpPr/>
          <p:nvPr/>
        </p:nvSpPr>
        <p:spPr>
          <a:xfrm>
            <a:off x="5120640" y="3383280"/>
            <a:ext cx="3657240" cy="1554120"/>
          </a:xfrm>
          <a:prstGeom prst="rect">
            <a:avLst/>
          </a:prstGeom>
          <a:solidFill>
            <a:srgbClr val="e3f2fd"/>
          </a:solidFill>
          <a:ln w="12600">
            <a:solidFill>
              <a:srgbClr val="e3f2f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CustomShape 53"/>
          <p:cNvSpPr/>
          <p:nvPr/>
        </p:nvSpPr>
        <p:spPr>
          <a:xfrm>
            <a:off x="5230440" y="3383280"/>
            <a:ext cx="3520080" cy="155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565c0"/>
                </a:solidFill>
                <a:latin typeface="Arial"/>
                <a:ea typeface="Arial"/>
              </a:rPr>
              <a:t>DELETE /users/42 дважды: второй раз вернёт 404, но система не сломается. Это идемпотентно.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565c0"/>
                </a:solidFill>
                <a:latin typeface="Arial"/>
                <a:ea typeface="Arial"/>
              </a:rPr>
              <a:t>POST /orders дважды: создаст два заказа. Не идемпотентно!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84" name="CustomShape 54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85" name="Google Shape;299;p34_7" descr=""/>
          <p:cNvPicPr/>
          <p:nvPr/>
        </p:nvPicPr>
        <p:blipFill>
          <a:blip r:embed="rId1"/>
          <a:stretch/>
        </p:blipFill>
        <p:spPr>
          <a:xfrm>
            <a:off x="8440560" y="4181040"/>
            <a:ext cx="351000" cy="527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" descr=""/>
          <p:cNvPicPr/>
          <p:nvPr/>
        </p:nvPicPr>
        <p:blipFill>
          <a:blip r:embed="rId1"/>
          <a:stretch/>
        </p:blipFill>
        <p:spPr>
          <a:xfrm>
            <a:off x="-2520" y="-186840"/>
            <a:ext cx="9143640" cy="4991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" descr=""/>
          <p:cNvPicPr/>
          <p:nvPr/>
        </p:nvPicPr>
        <p:blipFill>
          <a:blip r:embed="rId1"/>
          <a:stretch/>
        </p:blipFill>
        <p:spPr>
          <a:xfrm>
            <a:off x="-2520" y="101160"/>
            <a:ext cx="9143640" cy="4991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CustomShape 1"/>
          <p:cNvSpPr/>
          <p:nvPr/>
        </p:nvSpPr>
        <p:spPr>
          <a:xfrm>
            <a:off x="320040" y="0"/>
            <a:ext cx="850356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CustomShape 2"/>
          <p:cNvSpPr/>
          <p:nvPr/>
        </p:nvSpPr>
        <p:spPr>
          <a:xfrm>
            <a:off x="320040" y="804600"/>
            <a:ext cx="4205880" cy="621360"/>
          </a:xfrm>
          <a:prstGeom prst="rect">
            <a:avLst/>
          </a:prstGeom>
          <a:solidFill>
            <a:srgbClr val="e8f5e9"/>
          </a:solidFill>
          <a:ln w="126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CustomShape 3"/>
          <p:cNvSpPr/>
          <p:nvPr/>
        </p:nvSpPr>
        <p:spPr>
          <a:xfrm>
            <a:off x="411480" y="804600"/>
            <a:ext cx="191988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32"/>
                </a:solidFill>
                <a:latin typeface="Courier New"/>
                <a:ea typeface="Courier New"/>
              </a:rPr>
              <a:t>200 OK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1" name="CustomShape 4"/>
          <p:cNvSpPr/>
          <p:nvPr/>
        </p:nvSpPr>
        <p:spPr>
          <a:xfrm>
            <a:off x="2331720" y="804600"/>
            <a:ext cx="210276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Arial"/>
                <a:ea typeface="Arial"/>
              </a:rPr>
              <a:t>Успешный запрос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92" name="CustomShape 5"/>
          <p:cNvSpPr/>
          <p:nvPr/>
        </p:nvSpPr>
        <p:spPr>
          <a:xfrm>
            <a:off x="320040" y="1554480"/>
            <a:ext cx="4205880" cy="621360"/>
          </a:xfrm>
          <a:prstGeom prst="rect">
            <a:avLst/>
          </a:prstGeom>
          <a:solidFill>
            <a:srgbClr val="e8f5e9"/>
          </a:solidFill>
          <a:ln w="126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CustomShape 6"/>
          <p:cNvSpPr/>
          <p:nvPr/>
        </p:nvSpPr>
        <p:spPr>
          <a:xfrm>
            <a:off x="411480" y="1554480"/>
            <a:ext cx="191988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32"/>
                </a:solidFill>
                <a:latin typeface="Courier New"/>
                <a:ea typeface="Courier New"/>
              </a:rPr>
              <a:t>201 Created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4" name="CustomShape 7"/>
          <p:cNvSpPr/>
          <p:nvPr/>
        </p:nvSpPr>
        <p:spPr>
          <a:xfrm>
            <a:off x="2331720" y="1554480"/>
            <a:ext cx="210276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Arial"/>
                <a:ea typeface="Arial"/>
              </a:rPr>
              <a:t>Ресурс создан (после POST)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95" name="CustomShape 8"/>
          <p:cNvSpPr/>
          <p:nvPr/>
        </p:nvSpPr>
        <p:spPr>
          <a:xfrm>
            <a:off x="320040" y="2304360"/>
            <a:ext cx="4205880" cy="621360"/>
          </a:xfrm>
          <a:prstGeom prst="rect">
            <a:avLst/>
          </a:prstGeom>
          <a:solidFill>
            <a:srgbClr val="e8f5e9"/>
          </a:solidFill>
          <a:ln w="126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CustomShape 9"/>
          <p:cNvSpPr/>
          <p:nvPr/>
        </p:nvSpPr>
        <p:spPr>
          <a:xfrm>
            <a:off x="411480" y="2304360"/>
            <a:ext cx="191988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e7d32"/>
                </a:solidFill>
                <a:latin typeface="Courier New"/>
                <a:ea typeface="Courier New"/>
              </a:rPr>
              <a:t>204 No Content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7" name="CustomShape 10"/>
          <p:cNvSpPr/>
          <p:nvPr/>
        </p:nvSpPr>
        <p:spPr>
          <a:xfrm>
            <a:off x="2331720" y="2304360"/>
            <a:ext cx="210276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Arial"/>
                <a:ea typeface="Arial"/>
              </a:rPr>
              <a:t>Успешно, тела нет (DELETE)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98" name="CustomShape 11"/>
          <p:cNvSpPr/>
          <p:nvPr/>
        </p:nvSpPr>
        <p:spPr>
          <a:xfrm>
            <a:off x="320040" y="3054240"/>
            <a:ext cx="4205880" cy="621360"/>
          </a:xfrm>
          <a:prstGeom prst="rect">
            <a:avLst/>
          </a:prstGeom>
          <a:solidFill>
            <a:srgbClr val="fff3e0"/>
          </a:solidFill>
          <a:ln w="126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CustomShape 12"/>
          <p:cNvSpPr/>
          <p:nvPr/>
        </p:nvSpPr>
        <p:spPr>
          <a:xfrm>
            <a:off x="411480" y="3054240"/>
            <a:ext cx="191988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65100"/>
                </a:solidFill>
                <a:latin typeface="Courier New"/>
                <a:ea typeface="Courier New"/>
              </a:rPr>
              <a:t>400 Bad Request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0" name="CustomShape 13"/>
          <p:cNvSpPr/>
          <p:nvPr/>
        </p:nvSpPr>
        <p:spPr>
          <a:xfrm>
            <a:off x="2331720" y="3054240"/>
            <a:ext cx="210276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Arial"/>
                <a:ea typeface="Arial"/>
              </a:rPr>
              <a:t>Невалидные данные от клиента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01" name="CustomShape 14"/>
          <p:cNvSpPr/>
          <p:nvPr/>
        </p:nvSpPr>
        <p:spPr>
          <a:xfrm>
            <a:off x="320040" y="3803760"/>
            <a:ext cx="4205880" cy="621360"/>
          </a:xfrm>
          <a:prstGeom prst="rect">
            <a:avLst/>
          </a:prstGeom>
          <a:solidFill>
            <a:srgbClr val="fff3e0"/>
          </a:solidFill>
          <a:ln w="126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CustomShape 15"/>
          <p:cNvSpPr/>
          <p:nvPr/>
        </p:nvSpPr>
        <p:spPr>
          <a:xfrm>
            <a:off x="411480" y="3803760"/>
            <a:ext cx="191988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65100"/>
                </a:solidFill>
                <a:latin typeface="Courier New"/>
                <a:ea typeface="Courier New"/>
              </a:rPr>
              <a:t>401 Unauthorized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3" name="CustomShape 16"/>
          <p:cNvSpPr/>
          <p:nvPr/>
        </p:nvSpPr>
        <p:spPr>
          <a:xfrm>
            <a:off x="2331720" y="3803760"/>
            <a:ext cx="210276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Arial"/>
                <a:ea typeface="Arial"/>
              </a:rPr>
              <a:t>Нет или неверный токен — представься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04" name="CustomShape 17"/>
          <p:cNvSpPr/>
          <p:nvPr/>
        </p:nvSpPr>
        <p:spPr>
          <a:xfrm>
            <a:off x="4892040" y="804600"/>
            <a:ext cx="4205880" cy="621360"/>
          </a:xfrm>
          <a:prstGeom prst="rect">
            <a:avLst/>
          </a:prstGeom>
          <a:solidFill>
            <a:srgbClr val="fff3e0"/>
          </a:solidFill>
          <a:ln w="126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CustomShape 18"/>
          <p:cNvSpPr/>
          <p:nvPr/>
        </p:nvSpPr>
        <p:spPr>
          <a:xfrm>
            <a:off x="4983480" y="804600"/>
            <a:ext cx="191988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65100"/>
                </a:solidFill>
                <a:latin typeface="Courier New"/>
                <a:ea typeface="Courier New"/>
              </a:rPr>
              <a:t>403 Forbidden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6" name="CustomShape 19"/>
          <p:cNvSpPr/>
          <p:nvPr/>
        </p:nvSpPr>
        <p:spPr>
          <a:xfrm>
            <a:off x="6903720" y="804600"/>
            <a:ext cx="210276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Arial"/>
                <a:ea typeface="Arial"/>
              </a:rPr>
              <a:t>Токен есть, но прав не хватает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07" name="CustomShape 20"/>
          <p:cNvSpPr/>
          <p:nvPr/>
        </p:nvSpPr>
        <p:spPr>
          <a:xfrm>
            <a:off x="4892040" y="1554480"/>
            <a:ext cx="4205880" cy="621360"/>
          </a:xfrm>
          <a:prstGeom prst="rect">
            <a:avLst/>
          </a:prstGeom>
          <a:solidFill>
            <a:srgbClr val="fff3e0"/>
          </a:solidFill>
          <a:ln w="126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CustomShape 21"/>
          <p:cNvSpPr/>
          <p:nvPr/>
        </p:nvSpPr>
        <p:spPr>
          <a:xfrm>
            <a:off x="4983480" y="1554480"/>
            <a:ext cx="191988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65100"/>
                </a:solidFill>
                <a:latin typeface="Courier New"/>
                <a:ea typeface="Courier New"/>
              </a:rPr>
              <a:t>404 Not Found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9" name="CustomShape 22"/>
          <p:cNvSpPr/>
          <p:nvPr/>
        </p:nvSpPr>
        <p:spPr>
          <a:xfrm>
            <a:off x="6903720" y="1554480"/>
            <a:ext cx="210276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Arial"/>
                <a:ea typeface="Arial"/>
              </a:rPr>
              <a:t>Ресурс не найден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10" name="CustomShape 23"/>
          <p:cNvSpPr/>
          <p:nvPr/>
        </p:nvSpPr>
        <p:spPr>
          <a:xfrm>
            <a:off x="4892040" y="2304360"/>
            <a:ext cx="4205880" cy="621360"/>
          </a:xfrm>
          <a:prstGeom prst="rect">
            <a:avLst/>
          </a:prstGeom>
          <a:solidFill>
            <a:srgbClr val="fff3e0"/>
          </a:solidFill>
          <a:ln w="126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CustomShape 24"/>
          <p:cNvSpPr/>
          <p:nvPr/>
        </p:nvSpPr>
        <p:spPr>
          <a:xfrm>
            <a:off x="4983480" y="2304360"/>
            <a:ext cx="191988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65100"/>
                </a:solidFill>
                <a:latin typeface="Courier New"/>
                <a:ea typeface="Courier New"/>
              </a:rPr>
              <a:t>422 Unprocessable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12" name="CustomShape 25"/>
          <p:cNvSpPr/>
          <p:nvPr/>
        </p:nvSpPr>
        <p:spPr>
          <a:xfrm>
            <a:off x="6903720" y="2304360"/>
            <a:ext cx="210276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Arial"/>
                <a:ea typeface="Arial"/>
              </a:rPr>
              <a:t>Структура ок, но данные не прошли валидацию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13" name="CustomShape 26"/>
          <p:cNvSpPr/>
          <p:nvPr/>
        </p:nvSpPr>
        <p:spPr>
          <a:xfrm>
            <a:off x="4892040" y="3054240"/>
            <a:ext cx="4205880" cy="621360"/>
          </a:xfrm>
          <a:prstGeom prst="rect">
            <a:avLst/>
          </a:prstGeom>
          <a:solidFill>
            <a:srgbClr val="ffebee"/>
          </a:solidFill>
          <a:ln w="126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CustomShape 27"/>
          <p:cNvSpPr/>
          <p:nvPr/>
        </p:nvSpPr>
        <p:spPr>
          <a:xfrm>
            <a:off x="4983480" y="3054240"/>
            <a:ext cx="191988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62828"/>
                </a:solidFill>
                <a:latin typeface="Courier New"/>
                <a:ea typeface="Courier New"/>
              </a:rPr>
              <a:t>500 Internal Error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15" name="CustomShape 28"/>
          <p:cNvSpPr/>
          <p:nvPr/>
        </p:nvSpPr>
        <p:spPr>
          <a:xfrm>
            <a:off x="6903720" y="3054240"/>
            <a:ext cx="210276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Arial"/>
                <a:ea typeface="Arial"/>
              </a:rPr>
              <a:t>Ошибка сервера — клиент не виноват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16" name="CustomShape 29"/>
          <p:cNvSpPr/>
          <p:nvPr/>
        </p:nvSpPr>
        <p:spPr>
          <a:xfrm>
            <a:off x="4892040" y="3803760"/>
            <a:ext cx="4205880" cy="621360"/>
          </a:xfrm>
          <a:prstGeom prst="rect">
            <a:avLst/>
          </a:prstGeom>
          <a:solidFill>
            <a:srgbClr val="ffebee"/>
          </a:solidFill>
          <a:ln w="126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CustomShape 30"/>
          <p:cNvSpPr/>
          <p:nvPr/>
        </p:nvSpPr>
        <p:spPr>
          <a:xfrm>
            <a:off x="4983480" y="3803760"/>
            <a:ext cx="191988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62828"/>
                </a:solidFill>
                <a:latin typeface="Courier New"/>
                <a:ea typeface="Courier New"/>
              </a:rPr>
              <a:t>503 Unavailable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18" name="CustomShape 31"/>
          <p:cNvSpPr/>
          <p:nvPr/>
        </p:nvSpPr>
        <p:spPr>
          <a:xfrm>
            <a:off x="6903720" y="3803760"/>
            <a:ext cx="2102760" cy="621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Arial"/>
                <a:ea typeface="Arial"/>
              </a:rPr>
              <a:t>Сервер временно недоступен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19" name="CustomShape 32"/>
          <p:cNvSpPr/>
          <p:nvPr/>
        </p:nvSpPr>
        <p:spPr>
          <a:xfrm>
            <a:off x="320040" y="4572000"/>
            <a:ext cx="8503560" cy="456840"/>
          </a:xfrm>
          <a:prstGeom prst="rect">
            <a:avLst/>
          </a:prstGeom>
          <a:solidFill>
            <a:srgbClr val="ffebee"/>
          </a:solidFill>
          <a:ln w="12600">
            <a:solidFill>
              <a:srgbClr val="ffeb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CustomShape 33"/>
          <p:cNvSpPr/>
          <p:nvPr/>
        </p:nvSpPr>
        <p:spPr>
          <a:xfrm>
            <a:off x="429840" y="4572000"/>
            <a:ext cx="836640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62828"/>
                </a:solidFill>
                <a:latin typeface="Arial"/>
                <a:ea typeface="Arial"/>
              </a:rPr>
              <a:t>⚠️ </a:t>
            </a:r>
            <a:r>
              <a:rPr b="0" lang="en-US" sz="1300" spc="-1" strike="noStrike">
                <a:solidFill>
                  <a:srgbClr val="c62828"/>
                </a:solidFill>
                <a:latin typeface="Arial"/>
                <a:ea typeface="Arial"/>
              </a:rPr>
              <a:t>Главная ошибка: возвращать 200 OK с { "error": "not found" } в теле. Клиент думает, что всё хорошо — и начинает обрабатывать ответ как успешный.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21" name="CustomShape 34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CustomShape 35"/>
          <p:cNvSpPr/>
          <p:nvPr/>
        </p:nvSpPr>
        <p:spPr>
          <a:xfrm>
            <a:off x="469440" y="0"/>
            <a:ext cx="850356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Блок 3 — статус коды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423" name="Google Shape;299;p34_8" descr=""/>
          <p:cNvPicPr/>
          <p:nvPr/>
        </p:nvPicPr>
        <p:blipFill>
          <a:blip r:embed="rId1"/>
          <a:stretch/>
        </p:blipFill>
        <p:spPr>
          <a:xfrm>
            <a:off x="8440560" y="4181040"/>
            <a:ext cx="351000" cy="527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CustomShape 1"/>
          <p:cNvSpPr/>
          <p:nvPr/>
        </p:nvSpPr>
        <p:spPr>
          <a:xfrm>
            <a:off x="548640" y="1371600"/>
            <a:ext cx="804636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bbdefb"/>
                </a:solidFill>
                <a:latin typeface="Arial"/>
                <a:ea typeface="Arial"/>
              </a:rPr>
              <a:t>Блок 4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25" name="CustomShape 2"/>
          <p:cNvSpPr/>
          <p:nvPr/>
        </p:nvSpPr>
        <p:spPr>
          <a:xfrm>
            <a:off x="548640" y="1920240"/>
            <a:ext cx="8046360" cy="12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a1a2e"/>
                </a:solidFill>
                <a:latin typeface="Arial"/>
                <a:ea typeface="Arial"/>
              </a:rPr>
              <a:t>Проектирование запросов и ответов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426" name="CustomShape 3"/>
          <p:cNvSpPr/>
          <p:nvPr/>
        </p:nvSpPr>
        <p:spPr>
          <a:xfrm>
            <a:off x="548640" y="3383280"/>
            <a:ext cx="1645560" cy="347040"/>
          </a:xfrm>
          <a:prstGeom prst="rect">
            <a:avLst/>
          </a:prstGeom>
          <a:solidFill>
            <a:srgbClr val="ffffff">
              <a:alpha val="20000"/>
            </a:srgbClr>
          </a:solidFill>
          <a:ln w="126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CustomShape 4"/>
          <p:cNvSpPr/>
          <p:nvPr/>
        </p:nvSpPr>
        <p:spPr>
          <a:xfrm>
            <a:off x="548640" y="3401640"/>
            <a:ext cx="164556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⏱  </a:t>
            </a: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10 минут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28" name="CustomShape 5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CustomShape 1"/>
          <p:cNvSpPr/>
          <p:nvPr/>
        </p:nvSpPr>
        <p:spPr>
          <a:xfrm>
            <a:off x="0" y="0"/>
            <a:ext cx="850356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     </a:t>
            </a: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Блок 4 — Запросы и ответы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30" name="CustomShape 2"/>
          <p:cNvSpPr/>
          <p:nvPr/>
        </p:nvSpPr>
        <p:spPr>
          <a:xfrm>
            <a:off x="365760" y="777240"/>
            <a:ext cx="84121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1a2e"/>
                </a:solidFill>
                <a:latin typeface="Arial"/>
                <a:ea typeface="Arial"/>
              </a:rPr>
              <a:t>Ключевые заголовки: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31" name="CustomShape 3"/>
          <p:cNvSpPr/>
          <p:nvPr/>
        </p:nvSpPr>
        <p:spPr>
          <a:xfrm>
            <a:off x="365760" y="1170360"/>
            <a:ext cx="8412120" cy="502560"/>
          </a:xfrm>
          <a:prstGeom prst="rect">
            <a:avLst/>
          </a:prstGeom>
          <a:solidFill>
            <a:srgbClr val="f5f7fa"/>
          </a:solidFill>
          <a:ln w="126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CustomShape 4"/>
          <p:cNvSpPr/>
          <p:nvPr/>
        </p:nvSpPr>
        <p:spPr>
          <a:xfrm>
            <a:off x="502920" y="1170360"/>
            <a:ext cx="38401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565c0"/>
                </a:solidFill>
                <a:latin typeface="Courier New"/>
                <a:ea typeface="Courier New"/>
              </a:rPr>
              <a:t>Content-Type: application/json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3" name="CustomShape 5"/>
          <p:cNvSpPr/>
          <p:nvPr/>
        </p:nvSpPr>
        <p:spPr>
          <a:xfrm>
            <a:off x="4434840" y="1170360"/>
            <a:ext cx="4297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46e7a"/>
                </a:solidFill>
                <a:latin typeface="Arial"/>
                <a:ea typeface="Arial"/>
              </a:rPr>
              <a:t>Формат тела запроса. Обязателен при POST/PUT/PATCH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4" name="CustomShape 6"/>
          <p:cNvSpPr/>
          <p:nvPr/>
        </p:nvSpPr>
        <p:spPr>
          <a:xfrm>
            <a:off x="365760" y="1764720"/>
            <a:ext cx="841212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CustomShape 7"/>
          <p:cNvSpPr/>
          <p:nvPr/>
        </p:nvSpPr>
        <p:spPr>
          <a:xfrm>
            <a:off x="502920" y="1764720"/>
            <a:ext cx="38401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565c0"/>
                </a:solidFill>
                <a:latin typeface="Courier New"/>
                <a:ea typeface="Courier New"/>
              </a:rPr>
              <a:t>Accept: application/json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6" name="CustomShape 8"/>
          <p:cNvSpPr/>
          <p:nvPr/>
        </p:nvSpPr>
        <p:spPr>
          <a:xfrm>
            <a:off x="4434840" y="1764720"/>
            <a:ext cx="4297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46e7a"/>
                </a:solidFill>
                <a:latin typeface="Arial"/>
                <a:ea typeface="Arial"/>
              </a:rPr>
              <a:t>Какой формат ответа ждёт клиент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7" name="CustomShape 9"/>
          <p:cNvSpPr/>
          <p:nvPr/>
        </p:nvSpPr>
        <p:spPr>
          <a:xfrm>
            <a:off x="365760" y="2359080"/>
            <a:ext cx="8412120" cy="502560"/>
          </a:xfrm>
          <a:prstGeom prst="rect">
            <a:avLst/>
          </a:prstGeom>
          <a:solidFill>
            <a:srgbClr val="f5f7fa"/>
          </a:solidFill>
          <a:ln w="126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CustomShape 10"/>
          <p:cNvSpPr/>
          <p:nvPr/>
        </p:nvSpPr>
        <p:spPr>
          <a:xfrm>
            <a:off x="502920" y="2359080"/>
            <a:ext cx="38401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565c0"/>
                </a:solidFill>
                <a:latin typeface="Courier New"/>
                <a:ea typeface="Courier New"/>
              </a:rPr>
              <a:t>Authorization: Bearer &lt;token&gt;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39" name="CustomShape 11"/>
          <p:cNvSpPr/>
          <p:nvPr/>
        </p:nvSpPr>
        <p:spPr>
          <a:xfrm>
            <a:off x="4434840" y="2359080"/>
            <a:ext cx="429732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46e7a"/>
                </a:solidFill>
                <a:latin typeface="Arial"/>
                <a:ea typeface="Arial"/>
              </a:rPr>
              <a:t>Токен авторизации (подробнее в блоке Безопасность)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0" name="CustomShape 12"/>
          <p:cNvSpPr/>
          <p:nvPr/>
        </p:nvSpPr>
        <p:spPr>
          <a:xfrm>
            <a:off x="365760" y="3063240"/>
            <a:ext cx="411444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Структура ответа — ошибка: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1" name="CustomShape 13"/>
          <p:cNvSpPr/>
          <p:nvPr/>
        </p:nvSpPr>
        <p:spPr>
          <a:xfrm>
            <a:off x="365760" y="3456360"/>
            <a:ext cx="4114440" cy="822600"/>
          </a:xfrm>
          <a:prstGeom prst="rect">
            <a:avLst/>
          </a:prstGeom>
          <a:solidFill>
            <a:srgbClr val="f3f3f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CustomShape 14"/>
          <p:cNvSpPr/>
          <p:nvPr/>
        </p:nvSpPr>
        <p:spPr>
          <a:xfrm>
            <a:off x="502920" y="3502080"/>
            <a:ext cx="3885840" cy="73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{ "error": "validation_error",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"message": "Email уже используется",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"details": { "field": "email" } }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3" name="CustomShape 15"/>
          <p:cNvSpPr/>
          <p:nvPr/>
        </p:nvSpPr>
        <p:spPr>
          <a:xfrm>
            <a:off x="4663440" y="3063240"/>
            <a:ext cx="411444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Пагинация: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4" name="CustomShape 16"/>
          <p:cNvSpPr/>
          <p:nvPr/>
        </p:nvSpPr>
        <p:spPr>
          <a:xfrm>
            <a:off x="4663440" y="3456360"/>
            <a:ext cx="4114440" cy="1005480"/>
          </a:xfrm>
          <a:prstGeom prst="rect">
            <a:avLst/>
          </a:prstGeom>
          <a:solidFill>
            <a:srgbClr val="f3f3f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CustomShape 17"/>
          <p:cNvSpPr/>
          <p:nvPr/>
        </p:nvSpPr>
        <p:spPr>
          <a:xfrm>
            <a:off x="4800600" y="3502080"/>
            <a:ext cx="388584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GET /users?page=2&amp;limit=20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{ "data": [...],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"total": 150, "page": 2,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"limit": 20, "pages": 8 }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46" name="CustomShape 18"/>
          <p:cNvSpPr/>
          <p:nvPr/>
        </p:nvSpPr>
        <p:spPr>
          <a:xfrm>
            <a:off x="365760" y="4572000"/>
            <a:ext cx="8412120" cy="475200"/>
          </a:xfrm>
          <a:prstGeom prst="rect">
            <a:avLst/>
          </a:prstGeom>
          <a:solidFill>
            <a:srgbClr val="fff3e0"/>
          </a:solidFill>
          <a:ln w="12600">
            <a:solidFill>
              <a:srgbClr val="fff3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CustomShape 19"/>
          <p:cNvSpPr/>
          <p:nvPr/>
        </p:nvSpPr>
        <p:spPr>
          <a:xfrm>
            <a:off x="475560" y="4572000"/>
            <a:ext cx="8274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65100"/>
                </a:solidFill>
                <a:latin typeface="Arial"/>
                <a:ea typeface="Arial"/>
              </a:rPr>
              <a:t>⚠️ </a:t>
            </a:r>
            <a:r>
              <a:rPr b="0" lang="en-US" sz="1300" spc="-1" strike="noStrike">
                <a:solidFill>
                  <a:srgbClr val="e65100"/>
                </a:solidFill>
                <a:latin typeface="Arial"/>
                <a:ea typeface="Arial"/>
              </a:rPr>
              <a:t>Консистентность важнее красоты. В одном эндпоинте user_id, в другом userId — это боль для всех. Выбери одно соглашение и держись его.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48" name="CustomShape 2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49" name="Google Shape;299;p34_9" descr=""/>
          <p:cNvPicPr/>
          <p:nvPr/>
        </p:nvPicPr>
        <p:blipFill>
          <a:blip r:embed="rId1"/>
          <a:stretch/>
        </p:blipFill>
        <p:spPr>
          <a:xfrm>
            <a:off x="8440560" y="4181040"/>
            <a:ext cx="351000" cy="527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CustomShape 1"/>
          <p:cNvSpPr/>
          <p:nvPr/>
        </p:nvSpPr>
        <p:spPr>
          <a:xfrm>
            <a:off x="548640" y="1371600"/>
            <a:ext cx="804636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bbdefb"/>
                </a:solidFill>
                <a:latin typeface="Arial"/>
                <a:ea typeface="Arial"/>
              </a:rPr>
              <a:t>Блок 5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51" name="CustomShape 2"/>
          <p:cNvSpPr/>
          <p:nvPr/>
        </p:nvSpPr>
        <p:spPr>
          <a:xfrm>
            <a:off x="548640" y="1920240"/>
            <a:ext cx="8046360" cy="12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a1a2e"/>
                </a:solidFill>
                <a:latin typeface="Arial"/>
                <a:ea typeface="Arial"/>
              </a:rPr>
              <a:t>Безопасность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452" name="CustomShape 3"/>
          <p:cNvSpPr/>
          <p:nvPr/>
        </p:nvSpPr>
        <p:spPr>
          <a:xfrm>
            <a:off x="548640" y="3383280"/>
            <a:ext cx="1645560" cy="347040"/>
          </a:xfrm>
          <a:prstGeom prst="rect">
            <a:avLst/>
          </a:prstGeom>
          <a:solidFill>
            <a:srgbClr val="ffffff">
              <a:alpha val="20000"/>
            </a:srgbClr>
          </a:solidFill>
          <a:ln w="126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3" name="CustomShape 4"/>
          <p:cNvSpPr/>
          <p:nvPr/>
        </p:nvSpPr>
        <p:spPr>
          <a:xfrm>
            <a:off x="548640" y="3401640"/>
            <a:ext cx="164556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⏱  </a:t>
            </a: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15 минут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54" name="CustomShape 5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CustomShape 1"/>
          <p:cNvSpPr/>
          <p:nvPr/>
        </p:nvSpPr>
        <p:spPr>
          <a:xfrm>
            <a:off x="432000" y="0"/>
            <a:ext cx="850356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Блок 5 — CORS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56" name="CustomShape 2"/>
          <p:cNvSpPr/>
          <p:nvPr/>
        </p:nvSpPr>
        <p:spPr>
          <a:xfrm>
            <a:off x="365760" y="777240"/>
            <a:ext cx="8412120" cy="383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1a2e"/>
                </a:solidFill>
                <a:latin typeface="Arial"/>
                <a:ea typeface="Arial"/>
              </a:rPr>
              <a:t>CORS — почему браузер блокирует запросы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457" name="CustomShape 3"/>
          <p:cNvSpPr/>
          <p:nvPr/>
        </p:nvSpPr>
        <p:spPr>
          <a:xfrm>
            <a:off x="365760" y="1188720"/>
            <a:ext cx="4937400" cy="822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По умолчанию браузер не даёт JS на example.com делать запросы к api.other.com.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Почему? Чтобы вредоносный сайт не мог от твоего имени делать запросы к твоему банку.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8" name="CustomShape 4"/>
          <p:cNvSpPr/>
          <p:nvPr/>
        </p:nvSpPr>
        <p:spPr>
          <a:xfrm>
            <a:off x="365760" y="2148840"/>
            <a:ext cx="84121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Preflight-запрос (для сложных запросов):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9" name="CustomShape 5"/>
          <p:cNvSpPr/>
          <p:nvPr/>
        </p:nvSpPr>
        <p:spPr>
          <a:xfrm>
            <a:off x="365760" y="2541960"/>
            <a:ext cx="4937400" cy="1371240"/>
          </a:xfrm>
          <a:prstGeom prst="rect">
            <a:avLst/>
          </a:prstGeom>
          <a:solidFill>
            <a:srgbClr val="f3f3f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0" name="CustomShape 6"/>
          <p:cNvSpPr/>
          <p:nvPr/>
        </p:nvSpPr>
        <p:spPr>
          <a:xfrm>
            <a:off x="502920" y="2587680"/>
            <a:ext cx="4708800" cy="12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OPTIONS /users HTTP/1.1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Origin: https://myapp.com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Access-Control-Request-Method: POST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← </a:t>
            </a: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Access-Control-Allow-Origin: https://myapp.com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← </a:t>
            </a: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Access-Control-Allow-Methods: GET, POST, DELETE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61" name="CustomShape 7"/>
          <p:cNvSpPr/>
          <p:nvPr/>
        </p:nvSpPr>
        <p:spPr>
          <a:xfrm>
            <a:off x="5486400" y="777240"/>
            <a:ext cx="3291480" cy="3291480"/>
          </a:xfrm>
          <a:prstGeom prst="rect">
            <a:avLst/>
          </a:prstGeom>
          <a:solidFill>
            <a:srgbClr val="f5f7fa"/>
          </a:solidFill>
          <a:ln w="1260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CustomShape 8"/>
          <p:cNvSpPr/>
          <p:nvPr/>
        </p:nvSpPr>
        <p:spPr>
          <a:xfrm>
            <a:off x="5577840" y="868680"/>
            <a:ext cx="31086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88e5"/>
                </a:solidFill>
                <a:latin typeface="Arial"/>
                <a:ea typeface="Arial"/>
              </a:rPr>
              <a:t>Важно: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3" name="CustomShape 9"/>
          <p:cNvSpPr/>
          <p:nvPr/>
        </p:nvSpPr>
        <p:spPr>
          <a:xfrm>
            <a:off x="5577840" y="1234440"/>
            <a:ext cx="3108600" cy="274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Arial"/>
                <a:ea typeface="Arial"/>
              </a:rPr>
              <a:t>CORS — это браузерная защита.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Arial"/>
                <a:ea typeface="Arial"/>
              </a:rPr>
              <a:t>curl и Postman его не проверяют.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Arial"/>
                <a:ea typeface="Arial"/>
              </a:rPr>
              <a:t>Access-Control-Allow-Origin: *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Arial"/>
                <a:ea typeface="Arial"/>
              </a:rPr>
              <a:t>Нельзя использовать вместе с Authorization — браузер заблокирует!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64" name="CustomShape 10"/>
          <p:cNvSpPr/>
          <p:nvPr/>
        </p:nvSpPr>
        <p:spPr>
          <a:xfrm>
            <a:off x="365760" y="4041720"/>
            <a:ext cx="8412120" cy="502560"/>
          </a:xfrm>
          <a:prstGeom prst="rect">
            <a:avLst/>
          </a:prstGeom>
          <a:solidFill>
            <a:srgbClr val="e3f2fd"/>
          </a:solidFill>
          <a:ln w="12600">
            <a:solidFill>
              <a:srgbClr val="e3f2f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5" name="CustomShape 11"/>
          <p:cNvSpPr/>
          <p:nvPr/>
        </p:nvSpPr>
        <p:spPr>
          <a:xfrm>
            <a:off x="475560" y="4041720"/>
            <a:ext cx="827496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565c0"/>
                </a:solidFill>
                <a:latin typeface="Arial"/>
                <a:ea typeface="Arial"/>
              </a:rPr>
              <a:t>💡 </a:t>
            </a:r>
            <a:r>
              <a:rPr b="0" lang="en-US" sz="1300" spc="-1" strike="noStrike">
                <a:solidFill>
                  <a:srgbClr val="1565c0"/>
                </a:solidFill>
                <a:latin typeface="Arial"/>
                <a:ea typeface="Arial"/>
              </a:rPr>
              <a:t>CORS не защищает API — он защищает пользователей браузера. Серверная авторизация всё равно нужна.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66" name="CustomShape 12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67" name="Google Shape;299;p34_10" descr=""/>
          <p:cNvPicPr/>
          <p:nvPr/>
        </p:nvPicPr>
        <p:blipFill>
          <a:blip r:embed="rId1"/>
          <a:stretch/>
        </p:blipFill>
        <p:spPr>
          <a:xfrm>
            <a:off x="8440560" y="4181040"/>
            <a:ext cx="351000" cy="527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CustomShape 1"/>
          <p:cNvSpPr/>
          <p:nvPr/>
        </p:nvSpPr>
        <p:spPr>
          <a:xfrm>
            <a:off x="0" y="0"/>
            <a:ext cx="850356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     </a:t>
            </a: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Блок 5 — Аутентификация: API Key и JWT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69" name="CustomShape 2"/>
          <p:cNvSpPr/>
          <p:nvPr/>
        </p:nvSpPr>
        <p:spPr>
          <a:xfrm>
            <a:off x="365760" y="777240"/>
            <a:ext cx="411444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1a2e"/>
                </a:solidFill>
                <a:latin typeface="Arial"/>
                <a:ea typeface="Arial"/>
              </a:rPr>
              <a:t>API Key — простой способ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70" name="CustomShape 3"/>
          <p:cNvSpPr/>
          <p:nvPr/>
        </p:nvSpPr>
        <p:spPr>
          <a:xfrm>
            <a:off x="365760" y="1170360"/>
            <a:ext cx="4114440" cy="594000"/>
          </a:xfrm>
          <a:prstGeom prst="rect">
            <a:avLst/>
          </a:prstGeom>
          <a:solidFill>
            <a:srgbClr val="f3f3f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CustomShape 4"/>
          <p:cNvSpPr/>
          <p:nvPr/>
        </p:nvSpPr>
        <p:spPr>
          <a:xfrm>
            <a:off x="502920" y="1216080"/>
            <a:ext cx="388584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GET /data HTTP/1.1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X-API-Key: sk_live_abc123xyz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72" name="CustomShape 5"/>
          <p:cNvSpPr/>
          <p:nvPr/>
        </p:nvSpPr>
        <p:spPr>
          <a:xfrm>
            <a:off x="365760" y="1828800"/>
            <a:ext cx="4114440" cy="63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46e7a"/>
                </a:solidFill>
                <a:latin typeface="Arial"/>
                <a:ea typeface="Arial"/>
              </a:rPr>
              <a:t>Плюсы: просто. Хорошо для server-to-server.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46e7a"/>
                </a:solidFill>
                <a:latin typeface="Arial"/>
                <a:ea typeface="Arial"/>
              </a:rPr>
              <a:t>Минусы: статичный — утёк, нужно перевыпускать.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73" name="CustomShape 6"/>
          <p:cNvSpPr/>
          <p:nvPr/>
        </p:nvSpPr>
        <p:spPr>
          <a:xfrm>
            <a:off x="4663440" y="777240"/>
            <a:ext cx="411444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1a2e"/>
                </a:solidFill>
                <a:latin typeface="Arial"/>
                <a:ea typeface="Arial"/>
              </a:rPr>
              <a:t>Bearer Token / JWT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74" name="CustomShape 7"/>
          <p:cNvSpPr/>
          <p:nvPr/>
        </p:nvSpPr>
        <p:spPr>
          <a:xfrm>
            <a:off x="4663440" y="1170360"/>
            <a:ext cx="4114440" cy="594000"/>
          </a:xfrm>
          <a:prstGeom prst="rect">
            <a:avLst/>
          </a:prstGeom>
          <a:solidFill>
            <a:srgbClr val="f3f3f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CustomShape 8"/>
          <p:cNvSpPr/>
          <p:nvPr/>
        </p:nvSpPr>
        <p:spPr>
          <a:xfrm>
            <a:off x="4800600" y="1216080"/>
            <a:ext cx="388584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GET /profile HTTP/1.1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Authorization: Bearer eyJhbGci...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76" name="CustomShape 9"/>
          <p:cNvSpPr/>
          <p:nvPr/>
        </p:nvSpPr>
        <p:spPr>
          <a:xfrm>
            <a:off x="4663440" y="1828800"/>
            <a:ext cx="4114440" cy="63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46e7a"/>
                </a:solidFill>
                <a:latin typeface="Arial"/>
                <a:ea typeface="Arial"/>
              </a:rPr>
              <a:t>JWT = header.payload.signature (base64)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46e7a"/>
                </a:solidFill>
                <a:latin typeface="Arial"/>
                <a:ea typeface="Arial"/>
              </a:rPr>
              <a:t>Payload содержит id, роль, срок жизни токена.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46e7a"/>
                </a:solidFill>
                <a:latin typeface="Arial"/>
                <a:ea typeface="Arial"/>
              </a:rPr>
              <a:t>Сервер проверяет подпись — без запроса в БД.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77" name="CustomShape 10"/>
          <p:cNvSpPr/>
          <p:nvPr/>
        </p:nvSpPr>
        <p:spPr>
          <a:xfrm>
            <a:off x="365760" y="2606040"/>
            <a:ext cx="841212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Что внутри JWT payload: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78" name="CustomShape 11"/>
          <p:cNvSpPr/>
          <p:nvPr/>
        </p:nvSpPr>
        <p:spPr>
          <a:xfrm>
            <a:off x="365760" y="2990160"/>
            <a:ext cx="8412120" cy="914040"/>
          </a:xfrm>
          <a:prstGeom prst="rect">
            <a:avLst/>
          </a:prstGeom>
          <a:solidFill>
            <a:srgbClr val="f3f3f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9" name="CustomShape 12"/>
          <p:cNvSpPr/>
          <p:nvPr/>
        </p:nvSpPr>
        <p:spPr>
          <a:xfrm>
            <a:off x="502920" y="3035880"/>
            <a:ext cx="8183520" cy="822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{  "sub": "42",         // id пользователя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   </a:t>
            </a: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"role": "admin",    // роль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   </a:t>
            </a: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"exp": 1735689600   // срок жизни (unix timestamp)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}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80" name="CustomShape 13"/>
          <p:cNvSpPr/>
          <p:nvPr/>
        </p:nvSpPr>
        <p:spPr>
          <a:xfrm>
            <a:off x="365760" y="4041720"/>
            <a:ext cx="4114440" cy="822600"/>
          </a:xfrm>
          <a:prstGeom prst="rect">
            <a:avLst/>
          </a:prstGeom>
          <a:solidFill>
            <a:srgbClr val="ffebee"/>
          </a:solidFill>
          <a:ln w="12600">
            <a:solidFill>
              <a:srgbClr val="ffebe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CustomShape 14"/>
          <p:cNvSpPr/>
          <p:nvPr/>
        </p:nvSpPr>
        <p:spPr>
          <a:xfrm>
            <a:off x="475560" y="4041720"/>
            <a:ext cx="3977280" cy="822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62828"/>
                </a:solidFill>
                <a:latin typeface="Arial"/>
                <a:ea typeface="Arial"/>
              </a:rPr>
              <a:t>⚠️ </a:t>
            </a:r>
            <a:r>
              <a:rPr b="0" lang="en-US" sz="1300" spc="-1" strike="noStrike">
                <a:solidFill>
                  <a:srgbClr val="c62828"/>
                </a:solidFill>
                <a:latin typeface="Arial"/>
                <a:ea typeface="Arial"/>
              </a:rPr>
              <a:t>JWT payload не зашифрован — только подписан. Любой может прочитать содержимое. Не кладите туда пароли и секреты.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82" name="CustomShape 15"/>
          <p:cNvSpPr/>
          <p:nvPr/>
        </p:nvSpPr>
        <p:spPr>
          <a:xfrm>
            <a:off x="4663440" y="4041720"/>
            <a:ext cx="4114440" cy="822600"/>
          </a:xfrm>
          <a:prstGeom prst="rect">
            <a:avLst/>
          </a:prstGeom>
          <a:solidFill>
            <a:srgbClr val="e3f2fd"/>
          </a:solidFill>
          <a:ln w="12600">
            <a:solidFill>
              <a:srgbClr val="e3f2f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CustomShape 16"/>
          <p:cNvSpPr/>
          <p:nvPr/>
        </p:nvSpPr>
        <p:spPr>
          <a:xfrm>
            <a:off x="4773240" y="4041720"/>
            <a:ext cx="3977280" cy="822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565c0"/>
                </a:solidFill>
                <a:latin typeface="Arial"/>
                <a:ea typeface="Arial"/>
              </a:rPr>
              <a:t>💡 </a:t>
            </a:r>
            <a:r>
              <a:rPr b="0" lang="en-US" sz="1300" spc="-1" strike="noStrike">
                <a:solidFill>
                  <a:srgbClr val="1565c0"/>
                </a:solidFill>
                <a:latin typeface="Arial"/>
                <a:ea typeface="Arial"/>
              </a:rPr>
              <a:t>OAuth 2.0 — следующий уровень: делегирование авторизации (войти через Google). Это отдельная большая тема.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84" name="CustomShape 17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85" name="Google Shape;299;p34_11" descr=""/>
          <p:cNvPicPr/>
          <p:nvPr/>
        </p:nvPicPr>
        <p:blipFill>
          <a:blip r:embed="rId1"/>
          <a:stretch/>
        </p:blipFill>
        <p:spPr>
          <a:xfrm>
            <a:off x="8440560" y="4181040"/>
            <a:ext cx="351000" cy="527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" descr=""/>
          <p:cNvPicPr/>
          <p:nvPr/>
        </p:nvPicPr>
        <p:blipFill>
          <a:blip r:embed="rId1"/>
          <a:stretch/>
        </p:blipFill>
        <p:spPr>
          <a:xfrm>
            <a:off x="-2160" y="72360"/>
            <a:ext cx="9143640" cy="4991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CustomShape 1"/>
          <p:cNvSpPr/>
          <p:nvPr/>
        </p:nvSpPr>
        <p:spPr>
          <a:xfrm>
            <a:off x="548640" y="1371600"/>
            <a:ext cx="804636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bbdefb"/>
                </a:solidFill>
                <a:latin typeface="Arial"/>
                <a:ea typeface="Arial"/>
              </a:rPr>
              <a:t>Блок 6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88" name="CustomShape 2"/>
          <p:cNvSpPr/>
          <p:nvPr/>
        </p:nvSpPr>
        <p:spPr>
          <a:xfrm>
            <a:off x="548640" y="1920240"/>
            <a:ext cx="8046360" cy="12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a1a2e"/>
                </a:solidFill>
                <a:latin typeface="Arial"/>
                <a:ea typeface="Arial"/>
              </a:rPr>
              <a:t>Версионирование API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489" name="CustomShape 3"/>
          <p:cNvSpPr/>
          <p:nvPr/>
        </p:nvSpPr>
        <p:spPr>
          <a:xfrm>
            <a:off x="548640" y="3383280"/>
            <a:ext cx="1645560" cy="347040"/>
          </a:xfrm>
          <a:prstGeom prst="rect">
            <a:avLst/>
          </a:prstGeom>
          <a:solidFill>
            <a:srgbClr val="ffffff">
              <a:alpha val="20000"/>
            </a:srgbClr>
          </a:solidFill>
          <a:ln w="126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CustomShape 4"/>
          <p:cNvSpPr/>
          <p:nvPr/>
        </p:nvSpPr>
        <p:spPr>
          <a:xfrm>
            <a:off x="548640" y="3401640"/>
            <a:ext cx="164556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⏱  </a:t>
            </a: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5 минут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91" name="CustomShape 5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CustomShape 1"/>
          <p:cNvSpPr/>
          <p:nvPr/>
        </p:nvSpPr>
        <p:spPr>
          <a:xfrm>
            <a:off x="0" y="0"/>
            <a:ext cx="850356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     </a:t>
            </a: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Блок 6 — Версионирование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93" name="CustomShape 2"/>
          <p:cNvSpPr/>
          <p:nvPr/>
        </p:nvSpPr>
        <p:spPr>
          <a:xfrm>
            <a:off x="365760" y="777240"/>
            <a:ext cx="8412120" cy="776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Зачем? Ты поменял структуру ответа — сломал мобильное приложение на телефонах пользователей.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API — это публичный контракт. Нельзя просто взять и изменить.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4" name="CustomShape 3"/>
          <p:cNvSpPr/>
          <p:nvPr/>
        </p:nvSpPr>
        <p:spPr>
          <a:xfrm>
            <a:off x="365760" y="1691640"/>
            <a:ext cx="2742840" cy="3108600"/>
          </a:xfrm>
          <a:prstGeom prst="rect">
            <a:avLst/>
          </a:prstGeom>
          <a:solidFill>
            <a:srgbClr val="ebf5fb"/>
          </a:solidFill>
          <a:ln w="12600">
            <a:solidFill>
              <a:srgbClr val="1e88e5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5" name="CustomShape 4"/>
          <p:cNvSpPr/>
          <p:nvPr/>
        </p:nvSpPr>
        <p:spPr>
          <a:xfrm>
            <a:off x="365760" y="1691640"/>
            <a:ext cx="274284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e88e5"/>
                </a:solidFill>
                <a:latin typeface="Arial"/>
                <a:ea typeface="Arial"/>
              </a:rPr>
              <a:t>★ </a:t>
            </a:r>
            <a:r>
              <a:rPr b="1" lang="en-US" sz="1100" spc="-1" strike="noStrike">
                <a:solidFill>
                  <a:srgbClr val="1e88e5"/>
                </a:solidFill>
                <a:latin typeface="Arial"/>
                <a:ea typeface="Arial"/>
              </a:rPr>
              <a:t>Рекомендуется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96" name="CustomShape 5"/>
          <p:cNvSpPr/>
          <p:nvPr/>
        </p:nvSpPr>
        <p:spPr>
          <a:xfrm>
            <a:off x="457200" y="2030040"/>
            <a:ext cx="255996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1. Версия в URL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7" name="CustomShape 6"/>
          <p:cNvSpPr/>
          <p:nvPr/>
        </p:nvSpPr>
        <p:spPr>
          <a:xfrm>
            <a:off x="457200" y="2468880"/>
            <a:ext cx="2559960" cy="594000"/>
          </a:xfrm>
          <a:prstGeom prst="rect">
            <a:avLst/>
          </a:prstGeom>
          <a:solidFill>
            <a:srgbClr val="f3f3f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CustomShape 7"/>
          <p:cNvSpPr/>
          <p:nvPr/>
        </p:nvSpPr>
        <p:spPr>
          <a:xfrm>
            <a:off x="594360" y="2514600"/>
            <a:ext cx="233136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GET /v1/users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GET /v2/users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99" name="CustomShape 8"/>
          <p:cNvSpPr/>
          <p:nvPr/>
        </p:nvSpPr>
        <p:spPr>
          <a:xfrm>
            <a:off x="457200" y="3145680"/>
            <a:ext cx="255996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e7d32"/>
                </a:solidFill>
                <a:latin typeface="Arial"/>
                <a:ea typeface="Arial"/>
              </a:rPr>
              <a:t>✅ </a:t>
            </a:r>
            <a:r>
              <a:rPr b="0" lang="en-US" sz="1200" spc="-1" strike="noStrike">
                <a:solidFill>
                  <a:srgbClr val="2e7d32"/>
                </a:solidFill>
                <a:latin typeface="Arial"/>
                <a:ea typeface="Arial"/>
              </a:rPr>
              <a:t>Очевидно, легко тестировать — все так делают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0" name="CustomShape 9"/>
          <p:cNvSpPr/>
          <p:nvPr/>
        </p:nvSpPr>
        <p:spPr>
          <a:xfrm>
            <a:off x="457200" y="3630240"/>
            <a:ext cx="255996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5100"/>
                </a:solidFill>
                <a:latin typeface="Arial"/>
                <a:ea typeface="Arial"/>
              </a:rPr>
              <a:t>⚠️ </a:t>
            </a:r>
            <a:r>
              <a:rPr b="0" lang="en-US" sz="1200" spc="-1" strike="noStrike">
                <a:solidFill>
                  <a:srgbClr val="e65100"/>
                </a:solidFill>
                <a:latin typeface="Arial"/>
                <a:ea typeface="Arial"/>
              </a:rPr>
              <a:t>Пуристы REST против, но на практике это норма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1" name="CustomShape 10"/>
          <p:cNvSpPr/>
          <p:nvPr/>
        </p:nvSpPr>
        <p:spPr>
          <a:xfrm>
            <a:off x="3291840" y="1691640"/>
            <a:ext cx="2742840" cy="3108600"/>
          </a:xfrm>
          <a:prstGeom prst="rect">
            <a:avLst/>
          </a:prstGeom>
          <a:solidFill>
            <a:srgbClr val="f5f7fa"/>
          </a:solidFill>
          <a:ln w="12600">
            <a:solidFill>
              <a:srgbClr val="cccccc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2" name="CustomShape 11"/>
          <p:cNvSpPr/>
          <p:nvPr/>
        </p:nvSpPr>
        <p:spPr>
          <a:xfrm>
            <a:off x="3383280" y="1737360"/>
            <a:ext cx="255996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2. Версия в заголовке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3" name="CustomShape 12"/>
          <p:cNvSpPr/>
          <p:nvPr/>
        </p:nvSpPr>
        <p:spPr>
          <a:xfrm>
            <a:off x="3383280" y="2176200"/>
            <a:ext cx="2559960" cy="594000"/>
          </a:xfrm>
          <a:prstGeom prst="rect">
            <a:avLst/>
          </a:prstGeom>
          <a:solidFill>
            <a:srgbClr val="f3f3f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4" name="CustomShape 13"/>
          <p:cNvSpPr/>
          <p:nvPr/>
        </p:nvSpPr>
        <p:spPr>
          <a:xfrm>
            <a:off x="3520440" y="2221920"/>
            <a:ext cx="233136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GET /users HTTP/1.1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API-Version: 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5" name="CustomShape 14"/>
          <p:cNvSpPr/>
          <p:nvPr/>
        </p:nvSpPr>
        <p:spPr>
          <a:xfrm>
            <a:off x="3383280" y="2853000"/>
            <a:ext cx="255996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e7d32"/>
                </a:solidFill>
                <a:latin typeface="Arial"/>
                <a:ea typeface="Arial"/>
              </a:rPr>
              <a:t>✅ </a:t>
            </a:r>
            <a:r>
              <a:rPr b="0" lang="en-US" sz="1200" spc="-1" strike="noStrike">
                <a:solidFill>
                  <a:srgbClr val="2e7d32"/>
                </a:solidFill>
                <a:latin typeface="Arial"/>
                <a:ea typeface="Arial"/>
              </a:rPr>
              <a:t>URL чистый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6" name="CustomShape 15"/>
          <p:cNvSpPr/>
          <p:nvPr/>
        </p:nvSpPr>
        <p:spPr>
          <a:xfrm>
            <a:off x="3383280" y="3337560"/>
            <a:ext cx="255996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5100"/>
                </a:solidFill>
                <a:latin typeface="Arial"/>
                <a:ea typeface="Arial"/>
              </a:rPr>
              <a:t>⚠️ </a:t>
            </a:r>
            <a:r>
              <a:rPr b="0" lang="en-US" sz="1200" spc="-1" strike="noStrike">
                <a:solidFill>
                  <a:srgbClr val="e65100"/>
                </a:solidFill>
                <a:latin typeface="Arial"/>
                <a:ea typeface="Arial"/>
              </a:rPr>
              <a:t>Неочевидно, сложнее тестировать в браузере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7" name="CustomShape 16"/>
          <p:cNvSpPr/>
          <p:nvPr/>
        </p:nvSpPr>
        <p:spPr>
          <a:xfrm>
            <a:off x="6217920" y="1691640"/>
            <a:ext cx="2742840" cy="3108600"/>
          </a:xfrm>
          <a:prstGeom prst="rect">
            <a:avLst/>
          </a:prstGeom>
          <a:solidFill>
            <a:srgbClr val="f5f7fa"/>
          </a:solidFill>
          <a:ln w="12600">
            <a:solidFill>
              <a:srgbClr val="cccccc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8" name="CustomShape 17"/>
          <p:cNvSpPr/>
          <p:nvPr/>
        </p:nvSpPr>
        <p:spPr>
          <a:xfrm>
            <a:off x="6309360" y="1737360"/>
            <a:ext cx="255996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Arial"/>
                <a:ea typeface="Arial"/>
              </a:rPr>
              <a:t>3. Content Negotiation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09" name="CustomShape 18"/>
          <p:cNvSpPr/>
          <p:nvPr/>
        </p:nvSpPr>
        <p:spPr>
          <a:xfrm>
            <a:off x="6309360" y="2176200"/>
            <a:ext cx="2559960" cy="594000"/>
          </a:xfrm>
          <a:prstGeom prst="rect">
            <a:avLst/>
          </a:prstGeom>
          <a:solidFill>
            <a:srgbClr val="f3f3f3"/>
          </a:solidFill>
          <a:ln w="126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CustomShape 19"/>
          <p:cNvSpPr/>
          <p:nvPr/>
        </p:nvSpPr>
        <p:spPr>
          <a:xfrm>
            <a:off x="6446520" y="2221920"/>
            <a:ext cx="233136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Accept: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22222"/>
                </a:solidFill>
                <a:latin typeface="Courier New"/>
                <a:ea typeface="Courier New"/>
              </a:rPr>
              <a:t>application/vnd.api.v2+json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11" name="CustomShape 20"/>
          <p:cNvSpPr/>
          <p:nvPr/>
        </p:nvSpPr>
        <p:spPr>
          <a:xfrm>
            <a:off x="6309360" y="2853000"/>
            <a:ext cx="255996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e7d32"/>
                </a:solidFill>
                <a:latin typeface="Arial"/>
                <a:ea typeface="Arial"/>
              </a:rPr>
              <a:t>✅ </a:t>
            </a:r>
            <a:r>
              <a:rPr b="0" lang="en-US" sz="1200" spc="-1" strike="noStrike">
                <a:solidFill>
                  <a:srgbClr val="2e7d32"/>
                </a:solidFill>
                <a:latin typeface="Arial"/>
                <a:ea typeface="Arial"/>
              </a:rPr>
              <a:t>«Правильно» по HTTP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12" name="CustomShape 21"/>
          <p:cNvSpPr/>
          <p:nvPr/>
        </p:nvSpPr>
        <p:spPr>
          <a:xfrm>
            <a:off x="6309360" y="3337560"/>
            <a:ext cx="2559960" cy="50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5100"/>
                </a:solidFill>
                <a:latin typeface="Arial"/>
                <a:ea typeface="Arial"/>
              </a:rPr>
              <a:t>⚠️ </a:t>
            </a:r>
            <a:r>
              <a:rPr b="0" lang="en-US" sz="1200" spc="-1" strike="noStrike">
                <a:solidFill>
                  <a:srgbClr val="e65100"/>
                </a:solidFill>
                <a:latin typeface="Arial"/>
                <a:ea typeface="Arial"/>
              </a:rPr>
              <a:t>Громоздко, плохо поддерживается инструментами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13" name="CustomShape 22"/>
          <p:cNvSpPr/>
          <p:nvPr/>
        </p:nvSpPr>
        <p:spPr>
          <a:xfrm>
            <a:off x="365760" y="4892040"/>
            <a:ext cx="8412120" cy="164160"/>
          </a:xfrm>
          <a:prstGeom prst="rect">
            <a:avLst/>
          </a:prstGeom>
          <a:solidFill>
            <a:srgbClr val="e3f2fd"/>
          </a:solidFill>
          <a:ln w="12600">
            <a:solidFill>
              <a:srgbClr val="e3f2f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CustomShape 23"/>
          <p:cNvSpPr/>
          <p:nvPr/>
        </p:nvSpPr>
        <p:spPr>
          <a:xfrm>
            <a:off x="475560" y="4892040"/>
            <a:ext cx="827496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565c0"/>
                </a:solidFill>
                <a:latin typeface="Arial"/>
                <a:ea typeface="Arial"/>
              </a:rPr>
              <a:t>💡 </a:t>
            </a:r>
            <a:r>
              <a:rPr b="0" lang="en-US" sz="1300" spc="-1" strike="noStrike">
                <a:solidFill>
                  <a:srgbClr val="1565c0"/>
                </a:solidFill>
                <a:latin typeface="Arial"/>
                <a:ea typeface="Arial"/>
              </a:rPr>
              <a:t>Выпускаешь v2 — не удаляй v1 сразу. Дай клиентам время мигрировать. Добавь заголовок Deprecation: true для предупреждения.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15" name="CustomShape 24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16" name="Google Shape;299;p34_12" descr=""/>
          <p:cNvPicPr/>
          <p:nvPr/>
        </p:nvPicPr>
        <p:blipFill>
          <a:blip r:embed="rId1"/>
          <a:stretch/>
        </p:blipFill>
        <p:spPr>
          <a:xfrm>
            <a:off x="8440560" y="4181040"/>
            <a:ext cx="351000" cy="527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CustomShape 1"/>
          <p:cNvSpPr/>
          <p:nvPr/>
        </p:nvSpPr>
        <p:spPr>
          <a:xfrm>
            <a:off x="548640" y="1371600"/>
            <a:ext cx="804636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bbdefb"/>
                </a:solidFill>
                <a:latin typeface="Arial"/>
                <a:ea typeface="Arial"/>
              </a:rPr>
              <a:t>Блок 7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8" name="CustomShape 2"/>
          <p:cNvSpPr/>
          <p:nvPr/>
        </p:nvSpPr>
        <p:spPr>
          <a:xfrm>
            <a:off x="548640" y="1920240"/>
            <a:ext cx="8046360" cy="127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1a1a2e"/>
                </a:solidFill>
                <a:latin typeface="Arial"/>
                <a:ea typeface="Arial"/>
              </a:rPr>
              <a:t>Итог и Q&amp;A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519" name="CustomShape 3"/>
          <p:cNvSpPr/>
          <p:nvPr/>
        </p:nvSpPr>
        <p:spPr>
          <a:xfrm>
            <a:off x="548640" y="3383280"/>
            <a:ext cx="1645560" cy="347040"/>
          </a:xfrm>
          <a:prstGeom prst="rect">
            <a:avLst/>
          </a:prstGeom>
          <a:solidFill>
            <a:srgbClr val="ffffff">
              <a:alpha val="20000"/>
            </a:srgbClr>
          </a:solidFill>
          <a:ln w="126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0" name="CustomShape 4"/>
          <p:cNvSpPr/>
          <p:nvPr/>
        </p:nvSpPr>
        <p:spPr>
          <a:xfrm>
            <a:off x="548640" y="3401640"/>
            <a:ext cx="164556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⏱  </a:t>
            </a: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5 минут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1" name="CustomShape 5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CustomShape 1"/>
          <p:cNvSpPr/>
          <p:nvPr/>
        </p:nvSpPr>
        <p:spPr>
          <a:xfrm>
            <a:off x="0" y="0"/>
            <a:ext cx="850356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    </a:t>
            </a:r>
            <a:r>
              <a:rPr b="1" lang="en-US" sz="2200" spc="-1" strike="noStrike">
                <a:solidFill>
                  <a:srgbClr val="1a1a2e"/>
                </a:solidFill>
                <a:latin typeface="Arial"/>
                <a:ea typeface="Arial"/>
              </a:rPr>
              <a:t>Блок 7 — Чеклист хорошего REST API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23" name="CustomShape 2"/>
          <p:cNvSpPr/>
          <p:nvPr/>
        </p:nvSpPr>
        <p:spPr>
          <a:xfrm>
            <a:off x="365760" y="804600"/>
            <a:ext cx="4205880" cy="804240"/>
          </a:xfrm>
          <a:prstGeom prst="rect">
            <a:avLst/>
          </a:prstGeom>
          <a:solidFill>
            <a:srgbClr val="e8f5e9"/>
          </a:solidFill>
          <a:ln w="12600">
            <a:solidFill>
              <a:srgbClr val="2e7d32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4" name="CustomShape 3"/>
          <p:cNvSpPr/>
          <p:nvPr/>
        </p:nvSpPr>
        <p:spPr>
          <a:xfrm>
            <a:off x="365760" y="804600"/>
            <a:ext cx="54828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5" name="CustomShape 4"/>
          <p:cNvSpPr/>
          <p:nvPr/>
        </p:nvSpPr>
        <p:spPr>
          <a:xfrm>
            <a:off x="914400" y="804600"/>
            <a:ext cx="356580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Arial"/>
                <a:ea typeface="Arial"/>
              </a:rPr>
              <a:t>URL описывает ресурс (существительное), не действие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6" name="CustomShape 5"/>
          <p:cNvSpPr/>
          <p:nvPr/>
        </p:nvSpPr>
        <p:spPr>
          <a:xfrm>
            <a:off x="365760" y="1810440"/>
            <a:ext cx="4205880" cy="804240"/>
          </a:xfrm>
          <a:prstGeom prst="rect">
            <a:avLst/>
          </a:prstGeom>
          <a:solidFill>
            <a:srgbClr val="e8f5e9"/>
          </a:solidFill>
          <a:ln w="12600">
            <a:solidFill>
              <a:srgbClr val="2e7d32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7" name="CustomShape 6"/>
          <p:cNvSpPr/>
          <p:nvPr/>
        </p:nvSpPr>
        <p:spPr>
          <a:xfrm>
            <a:off x="365760" y="1810440"/>
            <a:ext cx="54828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8" name="CustomShape 7"/>
          <p:cNvSpPr/>
          <p:nvPr/>
        </p:nvSpPr>
        <p:spPr>
          <a:xfrm>
            <a:off x="914400" y="1810440"/>
            <a:ext cx="356580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Arial"/>
                <a:ea typeface="Arial"/>
              </a:rPr>
              <a:t>HTTP метод несёт семантику: GET читает, POST создаёт, DELETE удаляет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9" name="CustomShape 8"/>
          <p:cNvSpPr/>
          <p:nvPr/>
        </p:nvSpPr>
        <p:spPr>
          <a:xfrm>
            <a:off x="365760" y="2816280"/>
            <a:ext cx="4205880" cy="804240"/>
          </a:xfrm>
          <a:prstGeom prst="rect">
            <a:avLst/>
          </a:prstGeom>
          <a:solidFill>
            <a:srgbClr val="e8f5e9"/>
          </a:solidFill>
          <a:ln w="12600">
            <a:solidFill>
              <a:srgbClr val="2e7d32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0" name="CustomShape 9"/>
          <p:cNvSpPr/>
          <p:nvPr/>
        </p:nvSpPr>
        <p:spPr>
          <a:xfrm>
            <a:off x="365760" y="2816280"/>
            <a:ext cx="54828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1" name="CustomShape 10"/>
          <p:cNvSpPr/>
          <p:nvPr/>
        </p:nvSpPr>
        <p:spPr>
          <a:xfrm>
            <a:off x="914400" y="2816280"/>
            <a:ext cx="356580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Arial"/>
                <a:ea typeface="Arial"/>
              </a:rPr>
              <a:t>Статус-коды точно отражают результат (не 200 OK для ошибок)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32" name="CustomShape 11"/>
          <p:cNvSpPr/>
          <p:nvPr/>
        </p:nvSpPr>
        <p:spPr>
          <a:xfrm>
            <a:off x="365760" y="3822120"/>
            <a:ext cx="4205880" cy="804240"/>
          </a:xfrm>
          <a:prstGeom prst="rect">
            <a:avLst/>
          </a:prstGeom>
          <a:solidFill>
            <a:srgbClr val="e8f5e9"/>
          </a:solidFill>
          <a:ln w="12600">
            <a:solidFill>
              <a:srgbClr val="2e7d32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3" name="CustomShape 12"/>
          <p:cNvSpPr/>
          <p:nvPr/>
        </p:nvSpPr>
        <p:spPr>
          <a:xfrm>
            <a:off x="365760" y="3822120"/>
            <a:ext cx="54828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4" name="CustomShape 13"/>
          <p:cNvSpPr/>
          <p:nvPr/>
        </p:nvSpPr>
        <p:spPr>
          <a:xfrm>
            <a:off x="914400" y="3822120"/>
            <a:ext cx="356580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Arial"/>
                <a:ea typeface="Arial"/>
              </a:rPr>
              <a:t>Консистентная структура запросов и ответов по всему API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35" name="CustomShape 14"/>
          <p:cNvSpPr/>
          <p:nvPr/>
        </p:nvSpPr>
        <p:spPr>
          <a:xfrm>
            <a:off x="4800600" y="804600"/>
            <a:ext cx="4205880" cy="804240"/>
          </a:xfrm>
          <a:prstGeom prst="rect">
            <a:avLst/>
          </a:prstGeom>
          <a:solidFill>
            <a:srgbClr val="e8f5e9"/>
          </a:solidFill>
          <a:ln w="12600">
            <a:solidFill>
              <a:srgbClr val="2e7d32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6" name="CustomShape 15"/>
          <p:cNvSpPr/>
          <p:nvPr/>
        </p:nvSpPr>
        <p:spPr>
          <a:xfrm>
            <a:off x="4800600" y="804600"/>
            <a:ext cx="54828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7" name="CustomShape 16"/>
          <p:cNvSpPr/>
          <p:nvPr/>
        </p:nvSpPr>
        <p:spPr>
          <a:xfrm>
            <a:off x="5349240" y="804600"/>
            <a:ext cx="356580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Arial"/>
                <a:ea typeface="Arial"/>
              </a:rPr>
              <a:t>CORS настроен корректно (не * при использовании Authorization)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38" name="CustomShape 17"/>
          <p:cNvSpPr/>
          <p:nvPr/>
        </p:nvSpPr>
        <p:spPr>
          <a:xfrm>
            <a:off x="4800600" y="1810440"/>
            <a:ext cx="4205880" cy="804240"/>
          </a:xfrm>
          <a:prstGeom prst="rect">
            <a:avLst/>
          </a:prstGeom>
          <a:solidFill>
            <a:srgbClr val="e8f5e9"/>
          </a:solidFill>
          <a:ln w="12600">
            <a:solidFill>
              <a:srgbClr val="2e7d32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9" name="CustomShape 18"/>
          <p:cNvSpPr/>
          <p:nvPr/>
        </p:nvSpPr>
        <p:spPr>
          <a:xfrm>
            <a:off x="4800600" y="1810440"/>
            <a:ext cx="54828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0" name="CustomShape 19"/>
          <p:cNvSpPr/>
          <p:nvPr/>
        </p:nvSpPr>
        <p:spPr>
          <a:xfrm>
            <a:off x="5349240" y="1810440"/>
            <a:ext cx="356580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Arial"/>
                <a:ea typeface="Arial"/>
              </a:rPr>
              <a:t>Авторизация есть — хотя бы API Key или Bearer Token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41" name="CustomShape 20"/>
          <p:cNvSpPr/>
          <p:nvPr/>
        </p:nvSpPr>
        <p:spPr>
          <a:xfrm>
            <a:off x="4800600" y="2816280"/>
            <a:ext cx="4205880" cy="804240"/>
          </a:xfrm>
          <a:prstGeom prst="rect">
            <a:avLst/>
          </a:prstGeom>
          <a:solidFill>
            <a:srgbClr val="e8f5e9"/>
          </a:solidFill>
          <a:ln w="12600">
            <a:solidFill>
              <a:srgbClr val="2e7d32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2" name="CustomShape 21"/>
          <p:cNvSpPr/>
          <p:nvPr/>
        </p:nvSpPr>
        <p:spPr>
          <a:xfrm>
            <a:off x="4800600" y="2816280"/>
            <a:ext cx="54828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3" name="CustomShape 22"/>
          <p:cNvSpPr/>
          <p:nvPr/>
        </p:nvSpPr>
        <p:spPr>
          <a:xfrm>
            <a:off x="5349240" y="2816280"/>
            <a:ext cx="356580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Arial"/>
                <a:ea typeface="Arial"/>
              </a:rPr>
              <a:t>Версионирование есть — хотя бы /v1/ в URL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44" name="CustomShape 23"/>
          <p:cNvSpPr/>
          <p:nvPr/>
        </p:nvSpPr>
        <p:spPr>
          <a:xfrm>
            <a:off x="4800600" y="3822120"/>
            <a:ext cx="4205880" cy="804240"/>
          </a:xfrm>
          <a:prstGeom prst="rect">
            <a:avLst/>
          </a:prstGeom>
          <a:solidFill>
            <a:srgbClr val="e8f5e9"/>
          </a:solidFill>
          <a:ln w="12600">
            <a:solidFill>
              <a:srgbClr val="2e7d32"/>
            </a:solidFill>
            <a:round/>
          </a:ln>
          <a:effectLst>
            <a:outerShdw algn="bl" blurRad="10160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5" name="CustomShape 24"/>
          <p:cNvSpPr/>
          <p:nvPr/>
        </p:nvSpPr>
        <p:spPr>
          <a:xfrm>
            <a:off x="4800600" y="3822120"/>
            <a:ext cx="54828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6" name="CustomShape 25"/>
          <p:cNvSpPr/>
          <p:nvPr/>
        </p:nvSpPr>
        <p:spPr>
          <a:xfrm>
            <a:off x="5349240" y="3822120"/>
            <a:ext cx="3565800" cy="804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2e"/>
                </a:solidFill>
                <a:latin typeface="Arial"/>
                <a:ea typeface="Arial"/>
              </a:rPr>
              <a:t>Пагинация есть — не возвращаешь все записи сразу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47" name="CustomShape 26"/>
          <p:cNvSpPr/>
          <p:nvPr/>
        </p:nvSpPr>
        <p:spPr>
          <a:xfrm>
            <a:off x="365760" y="4827960"/>
            <a:ext cx="84121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46e7a"/>
                </a:solidFill>
                <a:latin typeface="Arial"/>
                <a:ea typeface="Arial"/>
              </a:rPr>
              <a:t>Что дальше: OpenAPI/Swagger · REST vs GraphQL · REST vs gRPC · OAuth 2.0 · Rate limiting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8" name="CustomShape 27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e88e5"/>
          </a:solidFill>
          <a:ln w="12600">
            <a:solidFill>
              <a:srgbClr val="1e88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49" name="Google Shape;299;p34_13" descr=""/>
          <p:cNvPicPr/>
          <p:nvPr/>
        </p:nvPicPr>
        <p:blipFill>
          <a:blip r:embed="rId1"/>
          <a:stretch/>
        </p:blipFill>
        <p:spPr>
          <a:xfrm>
            <a:off x="8440560" y="4181040"/>
            <a:ext cx="351000" cy="527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TextShape 1"/>
          <p:cNvSpPr txBox="1"/>
          <p:nvPr/>
        </p:nvSpPr>
        <p:spPr>
          <a:xfrm>
            <a:off x="326160" y="1091160"/>
            <a:ext cx="7640640" cy="26290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000000"/>
                </a:solidFill>
                <a:latin typeface="Roboto Light"/>
                <a:ea typeface="Roboto Light"/>
              </a:rPr>
              <a:t>Заполняйте анкету после активности!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000000"/>
                </a:solidFill>
                <a:latin typeface="Roboto Light"/>
                <a:ea typeface="Roboto Light"/>
              </a:rPr>
              <a:t>Вам несложно, 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600" spc="-1" strike="noStrike">
                <a:solidFill>
                  <a:srgbClr val="000000"/>
                </a:solidFill>
                <a:latin typeface="Roboto Light"/>
                <a:ea typeface="Roboto Light"/>
              </a:rPr>
              <a:t>Хекслету - полезно.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51" name="TextShape 2"/>
          <p:cNvSpPr txBox="1"/>
          <p:nvPr/>
        </p:nvSpPr>
        <p:spPr>
          <a:xfrm>
            <a:off x="326160" y="162720"/>
            <a:ext cx="5492880" cy="8460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3600" spc="-1" strike="noStrike">
                <a:solidFill>
                  <a:srgbClr val="000000"/>
                </a:solidFill>
                <a:latin typeface="Roboto Black"/>
                <a:ea typeface="Roboto Black"/>
              </a:rPr>
              <a:t>Спасибо за внимание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52" name="CustomShape 3"/>
          <p:cNvSpPr/>
          <p:nvPr/>
        </p:nvSpPr>
        <p:spPr>
          <a:xfrm>
            <a:off x="360" y="-9720"/>
            <a:ext cx="120960" cy="468504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53" name="Google Shape;299;p34_0" descr=""/>
          <p:cNvPicPr/>
          <p:nvPr/>
        </p:nvPicPr>
        <p:blipFill>
          <a:blip r:embed="rId1"/>
          <a:stretch/>
        </p:blipFill>
        <p:spPr>
          <a:xfrm>
            <a:off x="7655040" y="3791520"/>
            <a:ext cx="318240" cy="478080"/>
          </a:xfrm>
          <a:prstGeom prst="rect">
            <a:avLst/>
          </a:prstGeom>
          <a:ln>
            <a:noFill/>
          </a:ln>
        </p:spPr>
      </p:pic>
      <p:sp>
        <p:nvSpPr>
          <p:cNvPr id="554" name="CustomShape 4"/>
          <p:cNvSpPr/>
          <p:nvPr/>
        </p:nvSpPr>
        <p:spPr>
          <a:xfrm>
            <a:off x="360" y="-9720"/>
            <a:ext cx="120960" cy="468504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500</TotalTime>
  <Application>LibreOffice/6.4.7.2$Linux_X86_64 LibreOffice_project/40$Build-2</Applicat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2026-05-04T09:08:50Z</dcterms:created>
  <dc:creator>PptxGenJS</dc:creator>
  <dc:description/>
  <dc:language>en-US</dc:language>
  <cp:lastModifiedBy/>
  <dcterms:modified xsi:type="dcterms:W3CDTF">2026-05-20T23:01:10Z</dcterms:modified>
  <cp:revision>10</cp:revision>
  <dc:subject>PptxGenJS Presentation</dc:subject>
  <dc:title>REST API — Вебинар для джунов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PptxGenJS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23</vt:i4>
  </property>
  <property fmtid="{D5CDD505-2E9C-101B-9397-08002B2CF9AE}" pid="9" name="PresentationFormat">
    <vt:lpwstr>On-screen Show (16:9)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23</vt:i4>
  </property>
</Properties>
</file>